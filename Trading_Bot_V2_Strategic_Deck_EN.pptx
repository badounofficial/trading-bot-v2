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D4AF37"/>
                </a:solidFill>
                <a:latin typeface="Helvetica Neue"/>
              </a:defRPr>
            </a:pPr>
            <a:r>
              <a:rPr sz="1400" b="1" i="0" u="none" strike="noStrike">
                <a:solidFill>
                  <a:srgbClr val="D4AF37"/>
                </a:solidFill>
                <a:latin typeface="Helvetica Neue"/>
              </a:rPr>
              <a:t>Hyperliquid market share gain —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Hyperliquid Perp-DEX Share %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D3EE"/>
                    </a:solidFill>
                    <a:latin typeface="Helvetic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 2026</c:v>
                  </c:pt>
                  <c:pt idx="1">
                    <c:v>Feb 2026</c:v>
                  </c:pt>
                  <c:pt idx="2">
                    <c:v>Mar 2026</c:v>
                  </c:pt>
                  <c:pt idx="3">
                    <c:v>Apr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36.4</c:v>
                </c:pt>
                <c:pt idx="1">
                  <c:v>39</c:v>
                </c:pt>
                <c:pt idx="2">
                  <c:v>42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D3EE"/>
                  </a:solidFill>
                  <a:latin typeface="Helvetic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8"/>
        </a:solidFill>
        <a:ln>
          <a:noFill/>
        </a:ln>
        <a:effectLst/>
      </c:spPr>
    </c:plotArea>
    <c:plotVisOnly val="1"/>
    <c:dispBlanksAs val="span"/>
  </c:chart>
  <c:spPr>
    <a:solidFill>
      <a:srgbClr val="161B28"/>
    </a:solidFill>
    <a:ln w="6350" cap="flat">
      <a:solidFill>
        <a:srgbClr val="2A324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36576" cy="5394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51615" y="914400"/>
            <a:ext cx="18288" cy="5394960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ALGORITHMIC TRADING  ·  CRYPTO PERPETUALS  ·  MAY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Trading Bot V2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Strategic Overview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Methodology Applied to 8 Crypto Assets  ·  Hyperliquid + Kraken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2328" y="5029200"/>
            <a:ext cx="329184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328" y="5029200"/>
            <a:ext cx="457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208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75208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· OOS+FRICTION · 8 MAJORS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49928" y="5029200"/>
            <a:ext cx="329184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9928" y="5029200"/>
            <a:ext cx="45720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2808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32808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 · WALK-FORWARD AVG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07528" y="5029200"/>
            <a:ext cx="329184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7528" y="5029200"/>
            <a:ext cx="45720" cy="10972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408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90408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ANN. · OOS+FRICTION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 ·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·  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project stands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 walk-forward OOS · FRICTION fees+slippage+funding · WINDOW 2024–25 bull + 2022–23 bear · REGIME mixed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83080"/>
            <a:ext cx="53492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65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VALIDATED METHODOLOGY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ICC + SMC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Indication–Correction–Continuation pipeline (Daily / H4 / H1). 94/94 unit tests green. No-lookahead enforced.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783080"/>
            <a:ext cx="5349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965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OOS WALK-FORWARD + FRICTION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286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PF 1.64–2.54  ·  Sharpe 0.84–1.11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2940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309 trades, 8 majors. Bull '24–'25: PF 1.64, WR 49.1%, ΣPnL +89pp. Bear '22–'23: PF 2.54, WR 50.0%, ΣPnL +127pp. In-sample headline (+501pp) was −82% optimistic.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86200"/>
            <a:ext cx="53492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069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CONTEXT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  ·  1 July 2026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97280" y="5029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Proprietary bot: no CASP licence required. Signals or copy-trading for third parties: licence mandatory. Flat Tax (PFU) 31.4% in FR; DAC8 (EU directive on crypto reporting) auto-reporting active.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88620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886200"/>
            <a:ext cx="53492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069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NET P&amp;L (MEDIAN)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43891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+$11k → +$320k / yr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629400" y="5029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actual: $50k @ ~15–20 % net ≈ +$8–11k. End-of-build (+ funding capture): ≈ +$15k. Optimized multi-strategy + community: +$70k → +$320k.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internal backtest commit fbf497a · ESMA MiCA · DGFiP (French Tax Administration) / Hagnere Patrimoine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·  STRATEGY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ICC multi-timeframe cascade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3728" y="1737360"/>
            <a:ext cx="3383280" cy="2377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3728" y="1737360"/>
            <a:ext cx="3383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48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804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804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Direction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BULL / BEAR / NEUTRAL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unbroken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92728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404208" y="1737360"/>
            <a:ext cx="3383280" cy="2377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4208" y="1737360"/>
            <a:ext cx="3383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8528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7852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852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CHoCH break: NEW_HIGH / NEW_LOW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 Order Block 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Impulse + Fibo geometry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33208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44688" y="1737360"/>
            <a:ext cx="3383280" cy="2377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4688" y="1737360"/>
            <a:ext cx="33832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9008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1900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1900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Correction tracking (Path A +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Body close past micro LH / HL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Structural SL &amp; TP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04389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41549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31538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368698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58688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95848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5837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22997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IN_TRADE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12986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550146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COOLDOWN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53949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 triggers on body-close past the H1 micro-structure that formed during the correction phase. SL is anchored on the previous H1 HL/LH close; TP is the nearest opposite OB on H4/Daily (RR ≥ 2.5) or 1:3 measured-move fallback.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·  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Stack, data flow, testing posture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5120640" cy="457200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5120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578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pandas · numpy · pyarrow · ccxt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626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9626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icc_structure / icc_orderblocks / icc_cycle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467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3467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backtest/engine.py + backtest/directional_engine.py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30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WALK-FORWARD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730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strategies/walkforward_icc.py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4114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paper_trading/order_simulator.py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498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4498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pytest · 94/94 green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882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882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parquet cache (Daily / H4 / H1)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52669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5266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 · ~10 sessions logged in docs/RECAPS/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5544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554480"/>
            <a:ext cx="51206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EXCHANGES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(perp + funding)  ·  Kraken (spot OHLC)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4688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468880"/>
            <a:ext cx="5120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fetch_multi_tf / fetch_universe / parse_kraken_zip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3832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383280"/>
            <a:ext cx="51206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 LAYER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swing  ·  trend  ·  funding  ·  MR  ·  XSec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2976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297680"/>
            <a:ext cx="5120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 + WF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836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Walk-forward 12m / 6m / 3m  ·  per-asset metrics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52120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5212080"/>
            <a:ext cx="512064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5321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 TRADING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simulator · Phase 1 (no broker, zero capital)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 ·  BACKTEST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OOS walk-forward · friction applied · 2 regimes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45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 walk-forward (12m/6m/3m) · FRICTION fees 4.5bps×2 + tiered slippage + funding · WINDOW 2024–25 bull + 2022–23 bear · REGIME both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1518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188" y="1691640"/>
            <a:ext cx="24688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806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806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OOS TRADES (BOTH WINDOWS)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266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2668" y="1691640"/>
            <a:ext cx="2468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554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9554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· WEIGHTED OOS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014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0148" y="1691640"/>
            <a:ext cx="24688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302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9302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 · WEIGHTED OOS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0762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07628" y="1691640"/>
            <a:ext cx="24688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050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9050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ANN. · OOS+FRICTION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4640"/>
          <a:ext cx="105457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640080"/>
                <a:gridCol w="640080"/>
                <a:gridCol w="822960"/>
                <a:gridCol w="640080"/>
                <a:gridCol w="914400"/>
                <a:gridCol w="822960"/>
                <a:gridCol w="914400"/>
                <a:gridCol w="140205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DATASET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METHODO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FRICT.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WR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PF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Σ PNL pp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SHARPE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VERDICT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2024–25 (bull)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In-sample full-period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OFF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332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60.5%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3.84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+501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~7%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INVALID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2024–25 (bull)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Walk-forward OOS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49.1%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1.64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+89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12.7%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MARGINAL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2022–23 (bear→rec.)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Walk-forward OOS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50.0%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2.54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+127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7.3%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1.11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22960" y="4617720"/>
            <a:ext cx="10545775" cy="128016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61772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" y="4782312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  · 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in-sample headline (+501 pp, PF 3.84) was −82 % optimistic.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OOS + friction collapses the bull-tape PnL to +89 pp / PF 1.64 / Sharpe 0.84. The bear-recovery 2022–23 window actually performs BETTER (PF 2.54, Sharpe 1.11), suggesting the strategy survives a stress regime — but 4 of 8 assets lose money on the bull tape (BTC, ADA, DOT, LINK). Asset filtering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 ·  ASSET 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majors, aligned Daily/H4/H1 over 2024–2025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265176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BTC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+25.7%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52.9%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9312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554480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67912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6791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+89.3%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67912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79.5%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55664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1554480"/>
            <a:ext cx="2651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4264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84264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84264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+72.2%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84264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48.8%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72016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1554480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0616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00616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061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+34.6%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00616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51.1%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502152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AVAX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5156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+101.9%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5156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69.8%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39312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39312" y="3502152"/>
            <a:ext cx="265176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67912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DOT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867912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67912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+34.4%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867912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57.1%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55664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5664" y="3502152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84264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84264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84264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+89.1%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684264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62.3%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72016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72016" y="3502152"/>
            <a:ext cx="2651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00616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LTC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500616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00616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+53.9%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500616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60.0%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" y="5486400"/>
            <a:ext cx="10545775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" y="5486400"/>
            <a:ext cx="10545775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" y="565099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DOGE — EXCLUDED  ·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Insufficient coverage in cache (1h: ~30 days only, 4h: ~4 months) for a 2-year aligned window. Funding-rate data on Hyperliquid available for BTC/ETH/SOL — used in the funding_capture branch only.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 ·  SWOT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internal/external assessment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08760"/>
            <a:ext cx="5349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6184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Rigor: unit tests per ICC concept, anti-lookahead, walk-forward native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In-sample edge: PF 3.84, WR 60.5%, +501 pp over 2 years / 8 majors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Honest analytics: V2 fix tested, measured, rejected, documented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Best-in-class venues: Hyperliquid (44% perp-DEX share) + Kraken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Diversified strategy bench (ICC, trend, funding, MR, momentum XSec)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150876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508760"/>
            <a:ext cx="5349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184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965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live nor real-time paper yet — all backtest-only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Friction (fees, slippage) under-modelled in ICC pipeline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portfolio-level sizing or cross-asset risk control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INTRADAY / SCALPING modes advertised in enum but not coded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2 years of aligned 4h/1h data on the 8 majors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86200"/>
            <a:ext cx="53492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95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3434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in rapid ascent: 36% → 44% perp-DEX share in 4 mo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vertical: no real end-to-end ICC bot in Python on the market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arb on Hyperliquid: net APR 3–12% majors, 20–60%+ mid-caps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quant funds: ~48% avg return, Sharpe 1.6 (sqmagazine)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SMC community size: 15k+ active members on commercial alts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88620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886200"/>
            <a:ext cx="53492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995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43434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MiCA effective 1 July 2026 — CASP licence if managing 3rd-party capital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Exchange / smart-contract risk on Hyperliquid (young L1)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Regime change: 2026–2027 bear/rangy would compress edge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tail risk: flash crashes, stablecoin breaks, exploits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Flat Tax (PFU) @ 31.4% (2026); Non-commercial earnings (BNC) requalification if trading is intensive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 ·  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wallet is going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988" y="1554480"/>
            <a:ext cx="370332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988" y="1554480"/>
            <a:ext cx="37033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588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$21.8 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658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24H VOLUME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6588" y="2423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yellow.com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44188" y="1554480"/>
            <a:ext cx="370332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44188" y="1554480"/>
            <a:ext cx="37033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2788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7278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PERP-DEX SHARE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72788" y="2423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yellow.com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30388" y="1554480"/>
            <a:ext cx="370332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0388" y="1554480"/>
            <a:ext cx="3703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8988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48% / 1.6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35898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AVG CRYPTO QUANT FUND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58988" y="2423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% / Sharpe — sqmagazine 2026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22960" y="292608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583680" y="2926080"/>
            <a:ext cx="4846320" cy="320040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2926080"/>
            <a:ext cx="48463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DATA POINTS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3429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BOT SUBSCRIPTION MKT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58000" y="3630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12-25% avg ann. returns (3Commas / Cryptohopper top users)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0" y="39410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ARB NET APR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142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3–12% BTC/ETH · 20–60% mid-caps · 30–80% long-tail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0" y="4453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RETAIL BOT FAILURE RATE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58000" y="4654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~95% of AI retail bots lose money within 90 days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FEES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58000" y="5166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0.015% maker  ·  0.045% taker (best-in-class)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0" y="5477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SMC COMMERCIAL BOT AUDIENCE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58000" y="5678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SMRT Algo: 15 000+ active members across asset classes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 ·  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Trading Bot V2 fits in the 2026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57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1554480"/>
                <a:gridCol w="1463040"/>
                <a:gridCol w="295653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CATEGORY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PLAYER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PRICING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EDGE / NICHE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TradingView indicators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LuxAlgo SMC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 freemium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 → $40/mo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Visual only, no execution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TV indicators paid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Zeiierman SMC, SMC Sniper Pro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Subscription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$30–80/mo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Closed-source, visual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All-in-one bot 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3Commas · Cryptohopper · WunderTrading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$15–100/mo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Grid/DCA dominant, AI marketed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SMC bot 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SMRT Algo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SaaS+TV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$15–30/mo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15k+ members, broad asset coverage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Copy-trading exchange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Binance · Bybit · OKX Copy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Native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Spread + fees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Massive distribution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Copy-trading 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Finestel · Stoic.ai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Subscription + perf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Variable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 multi-account mgmt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Open-source Py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joshyattridge/smart-money-concepts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Library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Building block, not a bot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Trading Bot V2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(this project)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End-to-end Py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TBD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Backtest-rigorous ICC, transparent, dual venue (CEX + DEX)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5486400"/>
            <a:ext cx="10545775" cy="77724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548640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65099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POSITIONING  · 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open, reproducible, ICC-faithful Python stack with real backtest + walk-forward is a narrow but genuinely empty market segment. Most competitors are visual-only or closed SaaS.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 ·  REGULATORY &amp; 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 in force, DAC8 live, Flat Tax (PFU) at 31.4%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988" y="1554480"/>
            <a:ext cx="3703320" cy="3840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988" y="1554480"/>
            <a:ext cx="37033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308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2308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 CRYPTO REGULATION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308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Effective 1 July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028" y="29260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Proprietary bot (own capital) → no licence required.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Signals exec'd for third parties / managed portfolios → CASP licence mandatory.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ESMA Feb-2026 briefing: HFT / algo crypto must keep detailed order logs.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44188" y="1554480"/>
            <a:ext cx="3703320" cy="3840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4188" y="1554480"/>
            <a:ext cx="37033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8508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PFU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18508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FLAT TAX FR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18508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31.4% (12.8% IT + 18.6% SS)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4228" y="29260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gains &gt; €305 / year → declared via Form 2086 (FR capital-gains declaration).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for progressive Income Tax (IR) scale if more favorable.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Heavy bot activity → Non-commercial earnings (BNC) requalification risk (worse than PFU flat tax).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0388" y="1554480"/>
            <a:ext cx="3703320" cy="3840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0388" y="1554480"/>
            <a:ext cx="37033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4708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DAC8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404708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AUTOMATIC REPORTING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04708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since 1 January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0428" y="29260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 directive on crypto reporting — crypto platforms auto-transmit history to DGFiP (French Tax Administration).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Effective end of grey-zone declaration across EU jurisdictions.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Discipline required: keep clean trade logs and reconciliations.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5778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Sources: ESMA MiCA · Sumsub 2026 · Hagnere Patrimoine 2026 · impots.gouv.fr · Neural Arb MiCA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 ·  STRATEGIC OPTIONS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to spend the next 90 days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4937760" cy="49377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4937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 ·  PRIORITIZE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286000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funding capture to live paper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Delta-neutral on Hyperliquid. Net APR 3–12% BTC/ETH, 20–60% mid-caps. Doesn’t consume the same risk budget as ICC.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19272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Re-run walk-forward OOS with friction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593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fees + slippage to the ICC pipeline. Validate that V1 holds out-of-sample before any move toward broker demo.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352544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 sizing + cross-asset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626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Volatility-targeted sizing, correlation matrix (ETH/SOL/AVAX cluster), drawdown circuit-breaker.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5385816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monitoring + Telegram alerts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660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Already wired in config — connect it. Stop-everything switch on DD &gt; X%.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554480"/>
            <a:ext cx="4937760" cy="49377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554480"/>
            <a:ext cx="4937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 ·  POSTPONE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2286000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 INTRADAY / SCALPING modes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Stubs in enum, no code, no M15/M5/M1 data. ~3–6 sessions to build for unclear edge — sub-15-min is the densest SMC battleground.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331927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M15/M5/M1 history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593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Kraken depth is shallow on those TFs. ROI on time would be ahead of model risk. Park until 2027+.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352544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 (broker) before OOS validation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626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LIVE without robust OOS = textbook overfit-to-live failure mode. 95% of retail bots die here.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5385816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Sell signals / copy-trade without CASP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5660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MiCA in force 1 July 2026. Auto-execution for third parties = licence mandatory in the EU.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 ·  FINANCIAL PROJECTIONS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scenarios, low / median / high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988" y="1554480"/>
            <a:ext cx="370332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988" y="1554480"/>
            <a:ext cx="37033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588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·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6588" y="1993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V1, 8 assets, no funding yet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44188" y="1554480"/>
            <a:ext cx="370332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4188" y="1554480"/>
            <a:ext cx="37033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2788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 · END OF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2788" y="1993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funding capture live + realistic friction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0388" y="1554480"/>
            <a:ext cx="370332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388" y="1554480"/>
            <a:ext cx="37033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8988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 · OPTIMIZED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8988" y="1993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Multi-strategy + community / SaaS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97480"/>
          <a:ext cx="1054577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7647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CAPITAL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· LOW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· MEDIAN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· HIGH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 · LOW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 · MEDIAN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 · HIGH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 · MEDIAN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+$1.2k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+$2.2k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+$3.2k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+$1.8k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+$3.0k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+$4.5k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n/a*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$50k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+$6k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+$11k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+$16k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+$9k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+$22.5k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+$70k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$100k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+$22k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+$18k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+$45k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+$70–320k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22960" y="4754880"/>
            <a:ext cx="10545775" cy="141732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75488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" y="52120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Sharpe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0.8–1.3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(haircut 30–40% vs backtest)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15–25%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live (vs ~7% backtest)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Sizing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12.5%/asset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(equal-weighted)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Friction drag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−3 to −5 pp/yr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tax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of Flat Tax (PFU) 31.4%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applicable.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580644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*Scenario C revenues at $10k capital are dominated by community / signals fees (100–500 subscribers × $20–50/mo).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 · 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can break this thesis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5349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1938528"/>
            <a:ext cx="237744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EXCHANGE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Hyperliquid: young L1, scaling rapidly. Past incidents on the HLP. Mitigation: split capital across Kraken + Hyperliquid, conservative sizing on the DEX leg.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55448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54480"/>
            <a:ext cx="5349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828800"/>
            <a:ext cx="457200" cy="45720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0568" y="1938528"/>
            <a:ext cx="237744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CONTRACT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DEX trade is exposed to chain bugs / oracle manipulation / cross-chain bridge failure. Run only audited contracts; avoid bridged stablecoins of unclear provenance.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20040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200400"/>
            <a:ext cx="53492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474720"/>
            <a:ext cx="457200" cy="457200"/>
          </a:xfrm>
          <a:prstGeom prst="rect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3584448"/>
            <a:ext cx="237744" cy="23774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REGULATORY RISK · MiCA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 for own capital: clear. Bot serving third parties / copy execution: licence required from 1 July 2026. Building monetization paths around this constraint is non-negotiable.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20040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200400"/>
            <a:ext cx="53492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474720"/>
            <a:ext cx="457200" cy="457200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3584448"/>
            <a:ext cx="237744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VOLATILITY TAIL RISK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VaR(1%) is 10–20× a TradFi book. Flash crashes, stablecoin breaks, liquidation cascades. Mandatory: hard drawdown circuit-breaker, no leverage above 5x even on funding arb.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84632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846320"/>
            <a:ext cx="53492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5120640"/>
            <a:ext cx="457200" cy="457200"/>
          </a:xfrm>
          <a:prstGeom prst="rect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5230368"/>
            <a:ext cx="237744" cy="2377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164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/ REGIME RISK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5394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 sits in a 2024–2025 bull tape. A 2026–2027 bear or rangy regime would compress edge. Walk-forward OOS Session 5 must be re-run with friction before any live capital.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484632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4846320"/>
            <a:ext cx="5349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0840" y="5120640"/>
            <a:ext cx="457200" cy="45720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0568" y="5230368"/>
            <a:ext cx="23774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OPERATIONAL RISK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0" y="5394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Solo dev, single machine. No CI/CD, no failover, no monitoring yet. Wire Telegram alerts, daily P&amp;L digest, and a stop-everything kill-switch before 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 ·  MONETIZATION PATHS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own capital to community to SaaS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73352"/>
            <a:ext cx="640080" cy="612648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007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 CAPITAL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$20–100k self-funded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Highest edge capture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3524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returns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51460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10545775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633472"/>
            <a:ext cx="640080" cy="61264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66090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91640" y="26791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+ PATREON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91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SMC community ≈ 15–50k active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633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843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Brand, audience, hiring funnel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2633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35240" y="2843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Disclosure of edge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0" y="2633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0" y="2843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$5–20 / mo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347472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474720"/>
            <a:ext cx="10545775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3593592"/>
            <a:ext cx="640080" cy="61264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6210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691640" y="3639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 DISCORD/TELEGRAM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916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Subscribers × ticket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593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3803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monetization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3593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3803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MiCA if auto-exec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0" y="3593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26880" y="3803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$20–100 / mo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" y="443484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" y="4434840"/>
            <a:ext cx="10545775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4553712"/>
            <a:ext cx="640080" cy="61264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581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691640" y="4599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SAAS BOT TURNKEY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69164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Cryptohopper/3Commas benchmarks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4553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35240" y="4553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 + CASP licence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326880" y="4553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32688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$30–100 / mo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" y="539496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" y="5394960"/>
            <a:ext cx="10545775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" y="5513832"/>
            <a:ext cx="640080" cy="61264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55412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1691640" y="5559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COPY-TRADING POOL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691640" y="5852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Finestel / Stoic.ai partnership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43600" y="5513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943600" y="5724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Aligned incentives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635240" y="5513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5724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Perf-fee structure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326880" y="5513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326880" y="5724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+ 10–30% perf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 ·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phases, gated by validation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3393338" cy="4663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339333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190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 → +3 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834640"/>
            <a:ext cx="2844698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71800"/>
            <a:ext cx="27532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Re-run walk-forward OOS with friction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portfolio-level sizing + correlation matrix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Wire Telegram alerts + drawdown circuit-breaker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 funding_capture branch to live paper on Hyperliquid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99178" y="1554480"/>
            <a:ext cx="3393338" cy="4663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9178" y="1554480"/>
            <a:ext cx="3393338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3498" y="17190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3498" y="2011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+ LIVE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73498" y="25146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 → +9 mo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73498" y="2834640"/>
            <a:ext cx="2844698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9218" y="2971800"/>
            <a:ext cx="27532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Broker demo (Kraken API, key-restricted)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Real-money $5–10k bootstrap on ICC swing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arb in parallel on Hyperliquid (delta-neutral)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P&amp;L journal + monthly review cadence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75397" y="1554480"/>
            <a:ext cx="3393338" cy="4663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5397" y="1554480"/>
            <a:ext cx="339333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9717" y="17190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9717" y="2011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/ SHARE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49717" y="25146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+9 → +18 mo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49717" y="2834640"/>
            <a:ext cx="2844698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5437" y="2971800"/>
            <a:ext cx="27532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 brick: GitHub partial OSS + Discord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Signals tier (manual-exec only — no MiCA trip)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Evaluate Finestel/Stoic partnership for copy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gate on CASP structure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6355080"/>
            <a:ext cx="10545775" cy="7315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6355080"/>
            <a:ext cx="2109155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36576" cy="5394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51615" y="914400"/>
            <a:ext cx="18288" cy="5394960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Validate. Capture. Scale.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Hold V1 as default. Re-run walk-forward with realistic friction. Push funding capture to live paper in parallel. Re-decide at the next gate.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6568" y="4297680"/>
            <a:ext cx="3657600" cy="1554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68" y="4297680"/>
            <a:ext cx="3657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888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088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OOS WALK-FORWARD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088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 fees + slippage, 8 assets, 2024–2025.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7048" y="4297680"/>
            <a:ext cx="3657600" cy="1554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7048" y="4297680"/>
            <a:ext cx="3657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1368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4136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FUNDING CAPTURE LIVE PAPER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4136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Hyperliquid, BTC/ETH/SOL, delta-neutral, ≤ 5x.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528" y="4297680"/>
            <a:ext cx="3657600" cy="1554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528" y="4297680"/>
            <a:ext cx="3657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1848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8184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 BRICK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184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OSS + Discord. No auto-exec until MiCA decision.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  ·  May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Bot V2 — Strategic Overview</dc:title>
  <dc:subject>PptxGenJS Presentation</dc:subject>
  <dc:creator>Trading Bot V2 Project</dc:creator>
  <cp:lastModifiedBy>Trading Bot V2 Project</cp:lastModifiedBy>
  <cp:revision>1</cp:revision>
  <dcterms:created xsi:type="dcterms:W3CDTF">2026-05-26T12:35:28Z</dcterms:created>
  <dcterms:modified xsi:type="dcterms:W3CDTF">2026-05-26T12:35:28Z</dcterms:modified>
</cp:coreProperties>
</file>
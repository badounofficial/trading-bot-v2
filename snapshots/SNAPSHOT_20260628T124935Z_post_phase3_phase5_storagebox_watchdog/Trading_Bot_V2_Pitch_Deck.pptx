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" y="5413248"/>
            <a:ext cx="279393" cy="438912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5895" y="5281574"/>
            <a:ext cx="0" cy="702259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4185" y="5177619"/>
            <a:ext cx="279393" cy="674541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882" y="4975257"/>
            <a:ext cx="0" cy="1079266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173" y="5052810"/>
            <a:ext cx="279393" cy="799350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1869" y="4813005"/>
            <a:ext cx="0" cy="1278960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160" y="5097521"/>
            <a:ext cx="279393" cy="754639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9857" y="4871129"/>
            <a:ext cx="0" cy="1207423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8147" y="5852160"/>
            <a:ext cx="279393" cy="561437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7844" y="5683729"/>
            <a:ext cx="0" cy="898300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6135" y="5852160"/>
            <a:ext cx="279393" cy="310610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5831" y="5758977"/>
            <a:ext cx="0" cy="496975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4122" y="5852160"/>
            <a:ext cx="279393" cy="120124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3818" y="5816123"/>
            <a:ext cx="0" cy="192199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2109" y="5852160"/>
            <a:ext cx="279393" cy="79570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1806" y="5828289"/>
            <a:ext cx="0" cy="127312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0096" y="5852160"/>
            <a:ext cx="279393" cy="208020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793" y="5789754"/>
            <a:ext cx="0" cy="332832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8084" y="5852160"/>
            <a:ext cx="279393" cy="445062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7780" y="5718641"/>
            <a:ext cx="0" cy="712099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6071" y="5172949"/>
            <a:ext cx="279393" cy="679211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5768" y="4969185"/>
            <a:ext cx="0" cy="1086738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4058" y="5051816"/>
            <a:ext cx="279393" cy="800344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3755" y="4811712"/>
            <a:ext cx="0" cy="1280551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046" y="5100670"/>
            <a:ext cx="279393" cy="751490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1742" y="4875223"/>
            <a:ext cx="0" cy="1202384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0033" y="5296535"/>
            <a:ext cx="279393" cy="555625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9730" y="5129847"/>
            <a:ext cx="0" cy="889001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8020" y="5547291"/>
            <a:ext cx="279393" cy="304869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7717" y="5455831"/>
            <a:ext cx="0" cy="487790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008" y="5735006"/>
            <a:ext cx="279393" cy="117154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5704" y="5699859"/>
            <a:ext cx="0" cy="187447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03995" y="5852160"/>
            <a:ext cx="279393" cy="80768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43691" y="5827930"/>
            <a:ext cx="0" cy="129229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11982" y="5852160"/>
            <a:ext cx="279393" cy="212822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51679" y="5788313"/>
            <a:ext cx="0" cy="340515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19969" y="5852160"/>
            <a:ext cx="279393" cy="451210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59666" y="5716797"/>
            <a:ext cx="0" cy="721936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7957" y="5852160"/>
            <a:ext cx="279393" cy="683814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67653" y="5647016"/>
            <a:ext cx="0" cy="1094102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35944" y="5852160"/>
            <a:ext cx="279393" cy="801237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75641" y="5611789"/>
            <a:ext cx="0" cy="1281978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43931" y="5852160"/>
            <a:ext cx="279393" cy="748252"/>
          </a:xfrm>
          <a:prstGeom prst="rect">
            <a:avLst/>
          </a:prstGeom>
          <a:solidFill>
            <a:srgbClr val="F23A4E">
              <a:alpha val="12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3628" y="5627684"/>
            <a:ext cx="0" cy="1197204"/>
          </a:xfrm>
          <a:prstGeom prst="line">
            <a:avLst/>
          </a:prstGeom>
          <a:noFill/>
          <a:ln w="6350">
            <a:solidFill>
              <a:srgbClr val="F23A4E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51919" y="5302379"/>
            <a:ext cx="279393" cy="549781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91615" y="5137445"/>
            <a:ext cx="0" cy="879649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759906" y="5552994"/>
            <a:ext cx="279393" cy="299166"/>
          </a:xfrm>
          <a:prstGeom prst="rect">
            <a:avLst/>
          </a:prstGeom>
          <a:solidFill>
            <a:srgbClr val="10D783">
              <a:alpha val="12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99603" y="5463245"/>
            <a:ext cx="0" cy="478665"/>
          </a:xfrm>
          <a:prstGeom prst="line">
            <a:avLst/>
          </a:prstGeom>
          <a:noFill/>
          <a:ln w="6350">
            <a:solidFill>
              <a:srgbClr val="10D783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514600"/>
            <a:ext cx="121917" cy="19735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1917" y="2711954"/>
            <a:ext cx="121917" cy="18393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3834" y="2895887"/>
            <a:ext cx="121917" cy="15918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51" y="3055071"/>
            <a:ext cx="121917" cy="12471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668" y="3179782"/>
            <a:ext cx="121917" cy="8271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9585" y="3262493"/>
            <a:ext cx="121917" cy="3583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02" y="3298330"/>
            <a:ext cx="121917" cy="-1297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3419" y="3285354"/>
            <a:ext cx="121917" cy="-6068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5336" y="3224668"/>
            <a:ext cx="121917" cy="-10434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3" y="3120328"/>
            <a:ext cx="121917" cy="-14125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19170" y="2979072"/>
            <a:ext cx="121917" cy="-16918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41086" y="2809890"/>
            <a:ext cx="121917" cy="-18644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63003" y="2623445"/>
            <a:ext cx="121917" cy="-19203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84920" y="2431409"/>
            <a:ext cx="121917" cy="-18568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06837" y="2245726"/>
            <a:ext cx="121917" cy="-16785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754" y="2077873"/>
            <a:ext cx="121917" cy="-13972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50671" y="1938147"/>
            <a:ext cx="121917" cy="-10310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72588" y="1835039"/>
            <a:ext cx="121917" cy="-6032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05" y="1774713"/>
            <a:ext cx="121917" cy="-1407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16422" y="1760639"/>
            <a:ext cx="121917" cy="3276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38339" y="1793399"/>
            <a:ext cx="121917" cy="7726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256" y="1870662"/>
            <a:ext cx="121917" cy="11669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82173" y="1987354"/>
            <a:ext cx="121917" cy="14863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04090" y="2135986"/>
            <a:ext cx="121917" cy="17115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07" y="2307136"/>
            <a:ext cx="121917" cy="18290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47924" y="2490044"/>
            <a:ext cx="121917" cy="18324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69841" y="2673292"/>
            <a:ext cx="121917" cy="17222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91758" y="2845514"/>
            <a:ext cx="121917" cy="15058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13675" y="2996100"/>
            <a:ext cx="121917" cy="11975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35592" y="3115853"/>
            <a:ext cx="121917" cy="8169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57509" y="3197549"/>
            <a:ext cx="121917" cy="3882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79426" y="3236371"/>
            <a:ext cx="121917" cy="-617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01342" y="3230193"/>
            <a:ext cx="121917" cy="-5049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259" y="3179696"/>
            <a:ext cx="121917" cy="-9139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45176" y="3088305"/>
            <a:ext cx="121917" cy="-12634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67093" y="2961958"/>
            <a:ext cx="121917" cy="-15323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89010" y="2808725"/>
            <a:ext cx="121917" cy="-17043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10927" y="2638286"/>
            <a:ext cx="121917" cy="-17695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32844" y="2461326"/>
            <a:ext cx="121917" cy="-17246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54761" y="2288863"/>
            <a:ext cx="121917" cy="-15730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76678" y="2131561"/>
            <a:ext cx="121917" cy="-13249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98595" y="1999071"/>
            <a:ext cx="121917" cy="-9963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20512" y="1899440"/>
            <a:ext cx="121917" cy="-6081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42429" y="1838621"/>
            <a:ext cx="121917" cy="-1850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64346" y="1820120"/>
            <a:ext cx="121917" cy="2467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263" y="1844793"/>
            <a:ext cx="121917" cy="6602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08180" y="1910813"/>
            <a:ext cx="121917" cy="10298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30097" y="2013799"/>
            <a:ext cx="121917" cy="13331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014" y="2147109"/>
            <a:ext cx="121917" cy="15515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973931" y="2302266"/>
            <a:ext cx="121917" cy="16723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95848" y="2469495"/>
            <a:ext cx="121917" cy="16884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17765" y="2638345"/>
            <a:ext cx="121917" cy="15998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39682" y="2798332"/>
            <a:ext cx="121917" cy="1412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61598" y="2939601"/>
            <a:ext cx="121917" cy="11392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83515" y="3053524"/>
            <a:ext cx="121917" cy="7970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05432" y="3133234"/>
            <a:ext cx="121917" cy="4079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27349" y="3174031"/>
            <a:ext cx="121917" cy="-36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949266" y="3173665"/>
            <a:ext cx="121917" cy="-4120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071183" y="3132456"/>
            <a:ext cx="121917" cy="-7920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93100" y="3053253"/>
            <a:ext cx="121917" cy="-11201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15017" y="2941242"/>
            <a:ext cx="121917" cy="-13763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36934" y="2803607"/>
            <a:ext cx="121917" cy="-15453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58851" y="2649068"/>
            <a:ext cx="121917" cy="-16173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80768" y="2487331"/>
            <a:ext cx="121917" cy="-15885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02685" y="2328476"/>
            <a:ext cx="121917" cy="-14614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24602" y="2182331"/>
            <a:ext cx="121917" cy="-1244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046519" y="2057861"/>
            <a:ext cx="121917" cy="-9523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68436" y="1962624"/>
            <a:ext cx="121917" cy="-6031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90353" y="1902306"/>
            <a:ext cx="121917" cy="-21922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412270" y="1880383"/>
            <a:ext cx="121917" cy="1754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34187" y="1897927"/>
            <a:ext cx="121917" cy="5562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56104" y="1953553"/>
            <a:ext cx="121917" cy="899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778021" y="2043522"/>
            <a:ext cx="121917" cy="11847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899937" y="2161996"/>
            <a:ext cx="121917" cy="13941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021854" y="2301413"/>
            <a:ext cx="121917" cy="15155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143771" y="2452970"/>
            <a:ext cx="121917" cy="15420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265688" y="2607176"/>
            <a:ext cx="121917" cy="14727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387605" y="2754452"/>
            <a:ext cx="121917" cy="1312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509522" y="2885721"/>
            <a:ext cx="121917" cy="10725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631439" y="2992971"/>
            <a:ext cx="121917" cy="767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753356" y="3069740"/>
            <a:ext cx="121917" cy="4176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75273" y="3111509"/>
            <a:ext cx="121917" cy="445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97190" y="3115963"/>
            <a:ext cx="121917" cy="-3284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19107" y="3083122"/>
            <a:ext cx="121917" cy="-6780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241024" y="3015317"/>
            <a:ext cx="121917" cy="-9828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362941" y="2917031"/>
            <a:ext cx="121917" cy="-122431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484858" y="2794600"/>
            <a:ext cx="121917" cy="-138793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606775" y="2655807"/>
            <a:ext cx="121917" cy="-14641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728692" y="2509388"/>
            <a:ext cx="121917" cy="-14490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50609" y="2364480"/>
            <a:ext cx="121917" cy="-13442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972526" y="2230055"/>
            <a:ext cx="121917" cy="-11569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094443" y="2114358"/>
            <a:ext cx="121917" cy="-89950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216360" y="2024408"/>
            <a:ext cx="121917" cy="-5883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338277" y="1965569"/>
            <a:ext cx="121917" cy="-24339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60193" y="1941230"/>
            <a:ext cx="121917" cy="1138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582110" y="1952614"/>
            <a:ext cx="121917" cy="46104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704027" y="1998718"/>
            <a:ext cx="121917" cy="77675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825944" y="2076393"/>
            <a:ext cx="121917" cy="104166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947861" y="2180560"/>
            <a:ext cx="121917" cy="123978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2069778" y="2304537"/>
            <a:ext cx="121917" cy="135937"/>
          </a:xfrm>
          <a:prstGeom prst="line">
            <a:avLst/>
          </a:prstGeom>
          <a:noFill/>
          <a:ln w="889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0" y="2560320"/>
            <a:ext cx="152396" cy="17354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52396" y="2733861"/>
            <a:ext cx="152396" cy="16148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04792" y="2895346"/>
            <a:ext cx="152396" cy="13950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57189" y="3034854"/>
            <a:ext cx="152396" cy="10904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9585" y="3143903"/>
            <a:ext cx="152396" cy="7205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61981" y="3215961"/>
            <a:ext cx="152396" cy="3088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14377" y="3246842"/>
            <a:ext cx="152396" cy="-1189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66773" y="3234946"/>
            <a:ext cx="152396" cy="-5360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219170" y="3181339"/>
            <a:ext cx="152396" cy="-9167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371566" y="3089663"/>
            <a:ext cx="152396" cy="-12376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523962" y="2965895"/>
            <a:ext cx="152396" cy="-14793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676358" y="2817958"/>
            <a:ext cx="152396" cy="-16274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828754" y="2655210"/>
            <a:ext cx="152396" cy="-16735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981150" y="2487855"/>
            <a:ext cx="152396" cy="-16155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133547" y="2326304"/>
            <a:ext cx="152396" cy="-14577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285943" y="2180527"/>
            <a:ext cx="152396" cy="-12109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38339" y="2059436"/>
            <a:ext cx="152396" cy="-8909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590735" y="1970341"/>
            <a:ext cx="152396" cy="-5183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743131" y="1918511"/>
            <a:ext cx="152396" cy="-1165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895528" y="1906861"/>
            <a:ext cx="152396" cy="2893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47924" y="1935790"/>
            <a:ext cx="152396" cy="6738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00320" y="2003180"/>
            <a:ext cx="152396" cy="10136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352716" y="2104540"/>
            <a:ext cx="152396" cy="12877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505112" y="2233313"/>
            <a:ext cx="152396" cy="14798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57509" y="2381293"/>
            <a:ext cx="152396" cy="15785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809905" y="2539149"/>
            <a:ext cx="152396" cy="15786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962301" y="2697016"/>
            <a:ext cx="152396" cy="148092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114697" y="2845107"/>
            <a:ext cx="152396" cy="12921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267093" y="2974326"/>
            <a:ext cx="152396" cy="10249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419490" y="3076818"/>
            <a:ext cx="152396" cy="6963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571886" y="3146456"/>
            <a:ext cx="152396" cy="3274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724282" y="3179197"/>
            <a:ext cx="152396" cy="-587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876678" y="3173324"/>
            <a:ext cx="152396" cy="-4379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029074" y="3129527"/>
            <a:ext cx="152396" cy="-7868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181470" y="3050844"/>
            <a:ext cx="152396" cy="-10839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333867" y="2942449"/>
            <a:ext cx="152396" cy="-131134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486263" y="2811315"/>
            <a:ext cx="152396" cy="-14554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38659" y="2665766"/>
            <a:ext cx="152396" cy="-15081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791055" y="2514947"/>
            <a:ext cx="152396" cy="-14669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943451" y="2368252"/>
            <a:ext cx="152396" cy="-13351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95848" y="2234737"/>
            <a:ext cx="152396" cy="-11217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48244" y="2122561"/>
            <a:ext cx="152396" cy="-84072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400640" y="2038490"/>
            <a:ext cx="152396" cy="-5100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53036" y="1987484"/>
            <a:ext cx="152396" cy="-15072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705432" y="1972412"/>
            <a:ext cx="152396" cy="2147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857829" y="1993888"/>
            <a:ext cx="152396" cy="56365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10225" y="2050253"/>
            <a:ext cx="152396" cy="8744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162621" y="2137700"/>
            <a:ext cx="152396" cy="11282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15017" y="2250528"/>
            <a:ext cx="152396" cy="13098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67413" y="2381516"/>
            <a:ext cx="152396" cy="14086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19809" y="2522379"/>
            <a:ext cx="152396" cy="14191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772206" y="2664298"/>
            <a:ext cx="152396" cy="13416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24602" y="2798467"/>
            <a:ext cx="152396" cy="11817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076998" y="2916644"/>
            <a:ext cx="152396" cy="9500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229394" y="3011653"/>
            <a:ext cx="152396" cy="6617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81790" y="3077824"/>
            <a:ext cx="152396" cy="3350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534187" y="3111325"/>
            <a:ext cx="152396" cy="-93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686583" y="3110389"/>
            <a:ext cx="152396" cy="-3499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838979" y="3075399"/>
            <a:ext cx="152396" cy="-6655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991375" y="3008848"/>
            <a:ext cx="152396" cy="-9368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143771" y="2915161"/>
            <a:ext cx="152396" cy="-11475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296168" y="2800405"/>
            <a:ext cx="152396" cy="-128512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48564" y="2671892"/>
            <a:ext cx="152396" cy="-13417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600960" y="2537722"/>
            <a:ext cx="152396" cy="-13146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753356" y="2406261"/>
            <a:ext cx="152396" cy="-12063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905752" y="2285630"/>
            <a:ext cx="152396" cy="-10243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058149" y="2183197"/>
            <a:ext cx="152396" cy="-7806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210545" y="2105130"/>
            <a:ext cx="152396" cy="-4910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362941" y="2056023"/>
            <a:ext cx="152396" cy="-1739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515337" y="2038631"/>
            <a:ext cx="152396" cy="15081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67733" y="2053712"/>
            <a:ext cx="152396" cy="4629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820129" y="2100004"/>
            <a:ext cx="152396" cy="7432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972526" y="2174324"/>
            <a:ext cx="152396" cy="9745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124922" y="2271781"/>
            <a:ext cx="152396" cy="114318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277318" y="2386099"/>
            <a:ext cx="152396" cy="123923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429714" y="2510022"/>
            <a:ext cx="152396" cy="125750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582110" y="2635772"/>
            <a:ext cx="152396" cy="119767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734507" y="2755539"/>
            <a:ext cx="152396" cy="106426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886903" y="2861965"/>
            <a:ext cx="152396" cy="86632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2039299" y="2948597"/>
            <a:ext cx="152396" cy="61679"/>
          </a:xfrm>
          <a:prstGeom prst="line">
            <a:avLst/>
          </a:prstGeom>
          <a:noFill/>
          <a:ln w="635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31520" y="457200"/>
            <a:ext cx="27432" cy="548640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414455" y="457200"/>
            <a:ext cx="18288" cy="5486400"/>
          </a:xfrm>
          <a:prstGeom prst="rect">
            <a:avLst/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91440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CRYPTO QUANT SYSTEM  ·  HYPERLIQUID + KRAKEN  ·  MAY 2026</a:t>
            </a:r>
            <a:endParaRPr lang="en-US" sz="1200" dirty="0"/>
          </a:p>
        </p:txBody>
      </p:sp>
      <p:sp>
        <p:nvSpPr>
          <p:cNvPr id="233" name="Text 231"/>
          <p:cNvSpPr/>
          <p:nvPr/>
        </p:nvSpPr>
        <p:spPr>
          <a:xfrm>
            <a:off x="914400" y="1645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Trading Bot V2</a:t>
            </a:r>
            <a:endParaRPr lang="en-US" sz="8800" dirty="0"/>
          </a:p>
        </p:txBody>
      </p:sp>
      <p:sp>
        <p:nvSpPr>
          <p:cNvPr id="234" name="Text 232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on rigor.  Powered by structural edges.  Operated by transparency.</a:t>
            </a:r>
            <a:endParaRPr lang="en-US" sz="2200" dirty="0"/>
          </a:p>
        </p:txBody>
      </p:sp>
      <p:sp>
        <p:nvSpPr>
          <p:cNvPr id="235" name="Shape 233"/>
          <p:cNvSpPr/>
          <p:nvPr/>
        </p:nvSpPr>
        <p:spPr>
          <a:xfrm>
            <a:off x="380848" y="4572000"/>
            <a:ext cx="3657600" cy="1371600"/>
          </a:xfrm>
          <a:prstGeom prst="rect">
            <a:avLst/>
          </a:prstGeom>
          <a:solidFill>
            <a:srgbClr val="0D131F">
              <a:alpha val="80000"/>
            </a:srgbClr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655168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237" name="Text 235"/>
          <p:cNvSpPr/>
          <p:nvPr/>
        </p:nvSpPr>
        <p:spPr>
          <a:xfrm>
            <a:off x="655168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RIGOR</a:t>
            </a:r>
            <a:endParaRPr lang="en-US" sz="2200" dirty="0"/>
          </a:p>
        </p:txBody>
      </p:sp>
      <p:sp>
        <p:nvSpPr>
          <p:cNvPr id="238" name="Text 236"/>
          <p:cNvSpPr/>
          <p:nvPr/>
        </p:nvSpPr>
        <p:spPr>
          <a:xfrm>
            <a:off x="655168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94/94 unit tests · OOS validation · No-lookahead audited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4267048" y="4572000"/>
            <a:ext cx="3657600" cy="1371600"/>
          </a:xfrm>
          <a:prstGeom prst="rect">
            <a:avLst/>
          </a:prstGeom>
          <a:solidFill>
            <a:srgbClr val="0D131F">
              <a:alpha val="80000"/>
            </a:srgbClr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541368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241" name="Text 239"/>
          <p:cNvSpPr/>
          <p:nvPr/>
        </p:nvSpPr>
        <p:spPr>
          <a:xfrm>
            <a:off x="4541368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242" name="Text 240"/>
          <p:cNvSpPr/>
          <p:nvPr/>
        </p:nvSpPr>
        <p:spPr>
          <a:xfrm>
            <a:off x="4541368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capture carry + ICC pattern = barbell strategy</a:t>
            </a:r>
            <a:endParaRPr lang="en-US" sz="1100" dirty="0"/>
          </a:p>
        </p:txBody>
      </p:sp>
      <p:sp>
        <p:nvSpPr>
          <p:cNvPr id="243" name="Shape 241"/>
          <p:cNvSpPr/>
          <p:nvPr/>
        </p:nvSpPr>
        <p:spPr>
          <a:xfrm>
            <a:off x="8153248" y="4572000"/>
            <a:ext cx="3657600" cy="1371600"/>
          </a:xfrm>
          <a:prstGeom prst="rect">
            <a:avLst/>
          </a:prstGeom>
          <a:solidFill>
            <a:srgbClr val="0D131F">
              <a:alpha val="80000"/>
            </a:srgbClr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8427568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245" name="Text 243"/>
          <p:cNvSpPr/>
          <p:nvPr/>
        </p:nvSpPr>
        <p:spPr>
          <a:xfrm>
            <a:off x="8427568" y="4983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TRANSPARENCY</a:t>
            </a:r>
            <a:endParaRPr lang="en-US" sz="2200" dirty="0"/>
          </a:p>
        </p:txBody>
      </p:sp>
      <p:sp>
        <p:nvSpPr>
          <p:cNvPr id="246" name="Text 244"/>
          <p:cNvSpPr/>
          <p:nvPr/>
        </p:nvSpPr>
        <p:spPr>
          <a:xfrm>
            <a:off x="8427568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Belief-stage tracking · Honest haircuts · No false claims</a:t>
            </a:r>
            <a:endParaRPr lang="en-US" sz="1100" dirty="0"/>
          </a:p>
        </p:txBody>
      </p:sp>
      <p:sp>
        <p:nvSpPr>
          <p:cNvPr id="247" name="Text 245"/>
          <p:cNvSpPr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for Badoun  ·  May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most crypto trading bots fail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retail AI trading bots lose money within 90 days.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GoatFundedTrader, multi-year retail bot tracking 2024-26.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120640" cy="141732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45920"/>
            <a:ext cx="45720" cy="1417320"/>
          </a:xfrm>
          <a:prstGeom prst="rect">
            <a:avLst/>
          </a:prstGeom>
          <a:solidFill>
            <a:srgbClr val="F23A4E"/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240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 tuned to past data don't generalize. Beautiful backtests, ugly live runs.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5120640" cy="141732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200400"/>
            <a:ext cx="45720" cy="1417320"/>
          </a:xfrm>
          <a:prstGeom prst="rect">
            <a:avLst/>
          </a:prstGeom>
          <a:solidFill>
            <a:srgbClr val="F23A4E"/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3832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 IGNORED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Backtests skip real fees, slippage, funding. Live P&amp;L often 30-50% below the brochure.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754880"/>
            <a:ext cx="5120640" cy="141732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754880"/>
            <a:ext cx="45720" cy="1417320"/>
          </a:xfrm>
          <a:prstGeom prst="rect">
            <a:avLst/>
          </a:prstGeom>
          <a:solidFill>
            <a:srgbClr val="F23A4E"/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9377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731520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RISK DISCIPLINE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5349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sizing rules, no kill switch, no drawdown control. Capital lasts until the first big move.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solidFill>
            <a:srgbClr val="131B2A"/>
          </a:solidFill>
          <a:ln w="6350">
            <a:solidFill>
              <a:srgbClr val="E5B5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6235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V2'S ANSWER  ·  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measure honestly, validate out-of-sample, model real friction, and size with discipline.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·  WHAT V2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honest, transparent crypto quant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98" y="5454396"/>
            <a:ext cx="279393" cy="329184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5895" y="5355641"/>
            <a:ext cx="0" cy="526694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185" y="5277674"/>
            <a:ext cx="279393" cy="505906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882" y="5125902"/>
            <a:ext cx="0" cy="809449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2173" y="5184067"/>
            <a:ext cx="279393" cy="599513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1869" y="5004214"/>
            <a:ext cx="0" cy="959220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160" y="5217600"/>
            <a:ext cx="279393" cy="565980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9857" y="5047807"/>
            <a:ext cx="0" cy="905567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8147" y="5783580"/>
            <a:ext cx="279393" cy="421078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47844" y="5657257"/>
            <a:ext cx="0" cy="673725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16135" y="5783580"/>
            <a:ext cx="279393" cy="232957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5831" y="5713693"/>
            <a:ext cx="0" cy="372731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4122" y="5783580"/>
            <a:ext cx="279393" cy="90093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3818" y="5756552"/>
            <a:ext cx="0" cy="144149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2109" y="5783580"/>
            <a:ext cx="279393" cy="59678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71806" y="5765677"/>
            <a:ext cx="0" cy="95484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40096" y="5783580"/>
            <a:ext cx="279393" cy="156015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793" y="5736776"/>
            <a:ext cx="0" cy="249624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8084" y="5783580"/>
            <a:ext cx="279393" cy="333796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7780" y="5683441"/>
            <a:ext cx="0" cy="534074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6071" y="5274171"/>
            <a:ext cx="279393" cy="509409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95768" y="5121349"/>
            <a:ext cx="0" cy="815054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4058" y="5183322"/>
            <a:ext cx="279393" cy="600258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3755" y="5003244"/>
            <a:ext cx="0" cy="960413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046" y="5219962"/>
            <a:ext cx="279393" cy="563618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11742" y="5050877"/>
            <a:ext cx="0" cy="901788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80033" y="5366861"/>
            <a:ext cx="279393" cy="416719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9730" y="5241845"/>
            <a:ext cx="0" cy="666751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88020" y="5554929"/>
            <a:ext cx="279393" cy="228651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27717" y="5486333"/>
            <a:ext cx="0" cy="365842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6008" y="5695714"/>
            <a:ext cx="279393" cy="87866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35704" y="5669354"/>
            <a:ext cx="0" cy="140585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03995" y="5783580"/>
            <a:ext cx="279393" cy="60576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43691" y="5765407"/>
            <a:ext cx="0" cy="96922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11982" y="5783580"/>
            <a:ext cx="279393" cy="159617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51679" y="5735695"/>
            <a:ext cx="0" cy="255387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9969" y="5783580"/>
            <a:ext cx="279393" cy="338407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59666" y="5682058"/>
            <a:ext cx="0" cy="541452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27957" y="5783580"/>
            <a:ext cx="279393" cy="512860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67653" y="5629722"/>
            <a:ext cx="0" cy="820577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35944" y="5783580"/>
            <a:ext cx="279393" cy="600927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75641" y="5603302"/>
            <a:ext cx="0" cy="961484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43931" y="5783580"/>
            <a:ext cx="279393" cy="561189"/>
          </a:xfrm>
          <a:prstGeom prst="rect">
            <a:avLst/>
          </a:prstGeom>
          <a:solidFill>
            <a:srgbClr val="F23A4E">
              <a:alpha val="1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83628" y="5615223"/>
            <a:ext cx="0" cy="897903"/>
          </a:xfrm>
          <a:prstGeom prst="line">
            <a:avLst/>
          </a:prstGeom>
          <a:noFill/>
          <a:ln w="6350">
            <a:solidFill>
              <a:srgbClr val="F23A4E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51919" y="5371245"/>
            <a:ext cx="279393" cy="412335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391615" y="5247544"/>
            <a:ext cx="0" cy="659737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59906" y="5559206"/>
            <a:ext cx="279393" cy="224374"/>
          </a:xfrm>
          <a:prstGeom prst="rect">
            <a:avLst/>
          </a:prstGeom>
          <a:solidFill>
            <a:srgbClr val="10D783">
              <a:alpha val="1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99603" y="5491894"/>
            <a:ext cx="0" cy="358999"/>
          </a:xfrm>
          <a:prstGeom prst="line">
            <a:avLst/>
          </a:prstGeom>
          <a:noFill/>
          <a:ln w="6350">
            <a:solidFill>
              <a:srgbClr val="10D783">
                <a:alpha val="1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182880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Trading Bot V2 is a </a:t>
            </a:r>
            <a:pPr indent="0" marL="0">
              <a:buNone/>
            </a:pPr>
            <a:r>
              <a:rPr lang="en-US" sz="18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</a:t>
            </a:r>
            <a:pPr indent="0" marL="0">
              <a:buNone/>
            </a:pPr>
            <a:r>
              <a:rPr lang="en-US" sz="1800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trading system that </a:t>
            </a:r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captures funding-rate carry </a:t>
            </a:r>
            <a:pPr indent="0" marL="0">
              <a:buNone/>
            </a:pPr>
            <a:r>
              <a:rPr lang="en-US" sz="1800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Hyperliquid and </a:t>
            </a:r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trades ICC swing patterns </a:t>
            </a:r>
            <a:pPr indent="0" marL="0">
              <a:buNone/>
            </a:pPr>
            <a:r>
              <a:rPr lang="en-US" sz="1800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 filtered universe of major altcoins — with backtests, walk-forward, friction, and risk all measured before any capital is deployed.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40868" y="3657600"/>
            <a:ext cx="2606040" cy="1371600"/>
          </a:xfrm>
          <a:prstGeom prst="rect">
            <a:avLst/>
          </a:prstGeom>
          <a:solidFill>
            <a:srgbClr val="0D131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0868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723748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Kraken 12y + HL public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101188" y="4114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3375508" y="3657600"/>
            <a:ext cx="2606040" cy="1371600"/>
          </a:xfrm>
          <a:prstGeom prst="rect">
            <a:avLst/>
          </a:prstGeom>
          <a:solidFill>
            <a:srgbClr val="0D131F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75508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3558388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+ ICC + future strats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935828" y="4114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210148" y="3657600"/>
            <a:ext cx="2606040" cy="1371600"/>
          </a:xfrm>
          <a:prstGeom prst="rect">
            <a:avLst/>
          </a:prstGeom>
          <a:solidFill>
            <a:srgbClr val="0D131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0148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6393028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Kelly fractional + caps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770468" y="4114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69" name="Shape 67"/>
          <p:cNvSpPr/>
          <p:nvPr/>
        </p:nvSpPr>
        <p:spPr>
          <a:xfrm>
            <a:off x="9044788" y="3657600"/>
            <a:ext cx="2606040" cy="1371600"/>
          </a:xfrm>
          <a:prstGeom prst="rect">
            <a:avLst/>
          </a:prstGeom>
          <a:solidFill>
            <a:srgbClr val="0D131F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44788" y="3931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EXECUTION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9227668" y="4480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now · Live Phase 2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bot. A discipline.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45720" cy="457200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43531" y="2820924"/>
            <a:ext cx="139697" cy="768096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3380" y="2590495"/>
            <a:ext cx="0" cy="1228954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7525" y="2408573"/>
            <a:ext cx="139697" cy="1180447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7373" y="2054439"/>
            <a:ext cx="0" cy="1888715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51519" y="2190157"/>
            <a:ext cx="139697" cy="1398863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21367" y="1770499"/>
            <a:ext cx="0" cy="2238180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05512" y="2268401"/>
            <a:ext cx="139697" cy="1320619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75361" y="1872215"/>
            <a:ext cx="0" cy="2112990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9506" y="3589020"/>
            <a:ext cx="139697" cy="982515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29354" y="3294265"/>
            <a:ext cx="0" cy="1572024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3500" y="3589020"/>
            <a:ext cx="139697" cy="543567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348" y="3425950"/>
            <a:ext cx="0" cy="869707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7493" y="3589020"/>
            <a:ext cx="139697" cy="210218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7342" y="3525955"/>
            <a:ext cx="0" cy="336348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1487" y="3589020"/>
            <a:ext cx="139697" cy="139248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1335" y="3547246"/>
            <a:ext cx="0" cy="222796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5481" y="3589020"/>
            <a:ext cx="139697" cy="364035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45329" y="3479810"/>
            <a:ext cx="0" cy="582456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29474" y="3589020"/>
            <a:ext cx="139697" cy="778858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9323" y="3355363"/>
            <a:ext cx="0" cy="1246173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3468" y="2400400"/>
            <a:ext cx="139697" cy="118862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53316" y="2043814"/>
            <a:ext cx="0" cy="1901792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7462" y="2188417"/>
            <a:ext cx="139697" cy="1400603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7310" y="1768236"/>
            <a:ext cx="0" cy="2240964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91455" y="2273912"/>
            <a:ext cx="139697" cy="1315108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61303" y="1879380"/>
            <a:ext cx="0" cy="2104172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5449" y="2616676"/>
            <a:ext cx="139697" cy="972344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15297" y="2324972"/>
            <a:ext cx="0" cy="1555751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9443" y="3055500"/>
            <a:ext cx="139697" cy="53352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9291" y="2895444"/>
            <a:ext cx="0" cy="853632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53436" y="3384000"/>
            <a:ext cx="139697" cy="20502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23284" y="3322494"/>
            <a:ext cx="0" cy="328033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7430" y="3589020"/>
            <a:ext cx="139697" cy="141344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77278" y="3546617"/>
            <a:ext cx="0" cy="226150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61423" y="3589020"/>
            <a:ext cx="139697" cy="372439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31272" y="3477288"/>
            <a:ext cx="0" cy="595902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15417" y="3589020"/>
            <a:ext cx="139697" cy="789617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85265" y="3352135"/>
            <a:ext cx="0" cy="1263388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69411" y="3589020"/>
            <a:ext cx="139697" cy="1196674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39259" y="3230018"/>
            <a:ext cx="0" cy="1914679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823404" y="3589020"/>
            <a:ext cx="139697" cy="1402164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93253" y="3168371"/>
            <a:ext cx="0" cy="2243462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077398" y="3589020"/>
            <a:ext cx="139697" cy="1309442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147246" y="3196188"/>
            <a:ext cx="0" cy="2095107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331392" y="2626904"/>
            <a:ext cx="139697" cy="962116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401240" y="2338269"/>
            <a:ext cx="0" cy="1539386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585385" y="3065480"/>
            <a:ext cx="139697" cy="52354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655234" y="2908418"/>
            <a:ext cx="0" cy="837664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97280" y="201168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build</a:t>
            </a:r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 algorithmic trading system </a:t>
            </a:r>
            <a:pPr indent="0" marL="0">
              <a:buNone/>
            </a:pPr>
            <a:r>
              <a:rPr lang="en-US" sz="3000" i="1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 survives the contact with reality —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1097280" y="338328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by measuring rigorously, </a:t>
            </a:r>
            <a:pPr indent="0" marL="0">
              <a:buNone/>
            </a:pPr>
            <a:r>
              <a:rPr lang="en-US" sz="30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respecting risk, </a:t>
            </a:r>
            <a:pPr indent="0" marL="0">
              <a:buNone/>
            </a:pPr>
            <a:r>
              <a:rPr lang="en-US" sz="3000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reporting honestly</a:t>
            </a:r>
            <a:pPr indent="0" marL="0">
              <a:buNone/>
            </a:pPr>
            <a:r>
              <a:rPr lang="en-US" sz="3000" i="1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even when it hurts the project.</a:t>
            </a:r>
            <a:endParaRPr lang="en-US" sz="3000" dirty="0"/>
          </a:p>
        </p:txBody>
      </p:sp>
      <p:sp>
        <p:nvSpPr>
          <p:cNvPr id="54" name="Shape 52"/>
          <p:cNvSpPr/>
          <p:nvPr/>
        </p:nvSpPr>
        <p:spPr>
          <a:xfrm>
            <a:off x="1097280" y="5760720"/>
            <a:ext cx="5029200" cy="0"/>
          </a:xfrm>
          <a:prstGeom prst="line">
            <a:avLst/>
          </a:prstGeom>
          <a:noFill/>
          <a:ln w="12700">
            <a:solidFill>
              <a:srgbClr val="E5B5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V2 charter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·  PHILOSOPHY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principles that shape every decision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128" y="1691640"/>
            <a:ext cx="219456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128" y="1691640"/>
            <a:ext cx="2194560" cy="54864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128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2288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RADICAL TRANSPARENCY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8008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claim qualified. Every backtest tagged with methodology + friction + window + regime. No hidden caveats.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66848" y="1691640"/>
            <a:ext cx="219456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6848" y="1691640"/>
            <a:ext cx="21945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6848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2804008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OVERFIT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9728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Fixed parameters from spec, not data-mined. Walk-forward strict. Filter universe validated on untouched windows.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98568" y="1691640"/>
            <a:ext cx="219456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8568" y="1691640"/>
            <a:ext cx="2194560" cy="54864"/>
          </a:xfrm>
          <a:prstGeom prst="rect">
            <a:avLst/>
          </a:prstGeom>
          <a:solidFill>
            <a:srgbClr val="10D783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8568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III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135728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 EDGE &gt; PATTERN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1448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capture (structural carry) is the spine. Pattern strategies (ICC) are decorations, not the load-bearing wall.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0288" y="1691640"/>
            <a:ext cx="219456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0288" y="1691640"/>
            <a:ext cx="219456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0288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IV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467448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BELIEF, NOT FAITH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13168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Belief-stage % tracked openly. Drops below 50% → pivot proposal. Construction stage and belief stage clearly separated.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62008" y="1691640"/>
            <a:ext cx="219456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62008" y="1691640"/>
            <a:ext cx="2194560" cy="54864"/>
          </a:xfrm>
          <a:prstGeom prst="rect">
            <a:avLst/>
          </a:prstGeom>
          <a:solidFill>
            <a:srgbClr val="F23A4E"/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2008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799168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OPTIONALITY PRESERVED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44888" y="35204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must remain a serious option, never a desperate bet. Kill criteria written before drawdowns. Capital exposure capped.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·  THE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barbell strategy — structural carry meets pattern hunting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4937760" cy="4434840"/>
          </a:xfrm>
          <a:prstGeom prst="rect">
            <a:avLst/>
          </a:prstGeom>
          <a:solidFill>
            <a:srgbClr val="0D131F"/>
          </a:solidFill>
          <a:ln w="19050">
            <a:solidFill>
              <a:srgbClr val="10D7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Structural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097280" y="3154680"/>
            <a:ext cx="73152" cy="39392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194072"/>
            <a:ext cx="73152" cy="3655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3230630"/>
            <a:ext cx="73152" cy="3148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3262120"/>
            <a:ext cx="73152" cy="2451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3286639"/>
            <a:ext cx="73152" cy="1610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3302740"/>
            <a:ext cx="73152" cy="6770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6192" y="3309511"/>
            <a:ext cx="73152" cy="-288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9344" y="3306626"/>
            <a:ext cx="73152" cy="-1226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82496" y="3294366"/>
            <a:ext cx="73152" cy="-2078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3273584"/>
            <a:ext cx="73152" cy="-2792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245659"/>
            <a:ext cx="73152" cy="-3326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1952" y="3212394"/>
            <a:ext cx="73152" cy="-36487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75104" y="3175907"/>
            <a:ext cx="73152" cy="-3741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8256" y="3138492"/>
            <a:ext cx="73152" cy="-3601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1408" y="3102477"/>
            <a:ext cx="73152" cy="-3239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3070078"/>
            <a:ext cx="73152" cy="-2681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67712" y="3043265"/>
            <a:ext cx="73152" cy="-1962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0864" y="3023637"/>
            <a:ext cx="73152" cy="-1130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14016" y="3012334"/>
            <a:ext cx="73152" cy="-2370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87168" y="3009964"/>
            <a:ext cx="73152" cy="661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016578"/>
            <a:ext cx="73152" cy="1508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33472" y="3031665"/>
            <a:ext cx="73152" cy="2253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06624" y="3054198"/>
            <a:ext cx="73152" cy="28500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79776" y="3082699"/>
            <a:ext cx="73152" cy="3263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52928" y="3115333"/>
            <a:ext cx="73152" cy="3470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0" y="3150034"/>
            <a:ext cx="73152" cy="3459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99232" y="3184628"/>
            <a:ext cx="73152" cy="3234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2384" y="3216974"/>
            <a:ext cx="73152" cy="2811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45536" y="3245093"/>
            <a:ext cx="73152" cy="2219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8688" y="3267292"/>
            <a:ext cx="73152" cy="14972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282264"/>
            <a:ext cx="73152" cy="690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289167"/>
            <a:ext cx="73152" cy="-1500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38144" y="3287666"/>
            <a:ext cx="73152" cy="-971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11296" y="3277955"/>
            <a:ext cx="73152" cy="-1722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84448" y="3260732"/>
            <a:ext cx="73152" cy="-2357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3237154"/>
            <a:ext cx="73152" cy="-28397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30752" y="3208757"/>
            <a:ext cx="73152" cy="-3139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03904" y="3177358"/>
            <a:ext cx="73152" cy="-3241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77056" y="3144939"/>
            <a:ext cx="73152" cy="-3141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0208" y="3113521"/>
            <a:ext cx="73152" cy="-2848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23360" y="3085037"/>
            <a:ext cx="73152" cy="-23822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96512" y="3061215"/>
            <a:ext cx="73152" cy="-17742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69664" y="3043473"/>
            <a:ext cx="73152" cy="-10640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42816" y="3032833"/>
            <a:ext cx="73152" cy="-2967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15968" y="3029866"/>
            <a:ext cx="73152" cy="4791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0" y="3034657"/>
            <a:ext cx="73152" cy="1215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62272" y="3046811"/>
            <a:ext cx="73152" cy="1866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35424" y="3065480"/>
            <a:ext cx="73152" cy="2394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08576" y="3089425"/>
            <a:ext cx="73152" cy="2766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81728" y="3117092"/>
            <a:ext cx="73152" cy="2962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3146720"/>
            <a:ext cx="73152" cy="29728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3176449"/>
            <a:ext cx="73152" cy="2798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1184" y="3204434"/>
            <a:ext cx="73152" cy="2453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74336" y="3228967"/>
            <a:ext cx="73152" cy="19607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3248574"/>
            <a:ext cx="73152" cy="13534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3262107"/>
            <a:ext cx="73152" cy="670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93792" y="3268812"/>
            <a:ext cx="73152" cy="-445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66944" y="3268367"/>
            <a:ext cx="73152" cy="-7469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0096" y="3260897"/>
            <a:ext cx="73152" cy="-1393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13248" y="3246964"/>
            <a:ext cx="73152" cy="-19443"/>
          </a:xfrm>
          <a:prstGeom prst="line">
            <a:avLst/>
          </a:prstGeom>
          <a:noFill/>
          <a:ln w="19050">
            <a:solidFill>
              <a:srgbClr val="10D783">
                <a:alpha val="7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72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TYPE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8346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premium · retail longs pay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9728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DIRECTION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8346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Delta-neutral · uncorrelated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9728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APR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83464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3–12% majors · 20–60% mid-caps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97280" y="4718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EROSION RISK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834640" y="4718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— needs retail behavior change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9728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TAIL RISK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83464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Liquidation cascade (mitigated)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9728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EFF.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8346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0.5x — needs collateral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446520" y="1645920"/>
            <a:ext cx="4937760" cy="4434840"/>
          </a:xfrm>
          <a:prstGeom prst="rect">
            <a:avLst/>
          </a:prstGeom>
          <a:solidFill>
            <a:srgbClr val="0D131F"/>
          </a:solidFill>
          <a:ln w="19050">
            <a:solidFill>
              <a:srgbClr val="E5B53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208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SWING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720840" y="2194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</a:t>
            </a:r>
            <a:endParaRPr lang="en-US" sz="3600" dirty="0"/>
          </a:p>
        </p:txBody>
      </p:sp>
      <p:sp>
        <p:nvSpPr>
          <p:cNvPr id="86" name="Shape 84"/>
          <p:cNvSpPr/>
          <p:nvPr/>
        </p:nvSpPr>
        <p:spPr>
          <a:xfrm>
            <a:off x="6753758" y="3067812"/>
            <a:ext cx="120701" cy="109728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814109" y="3034894"/>
            <a:ext cx="0" cy="175565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73214" y="3008905"/>
            <a:ext cx="120701" cy="168635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33565" y="2958314"/>
            <a:ext cx="0" cy="269816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92670" y="2977702"/>
            <a:ext cx="120701" cy="199838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53021" y="2917751"/>
            <a:ext cx="0" cy="319740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12126" y="2988880"/>
            <a:ext cx="120701" cy="188660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72477" y="2932282"/>
            <a:ext cx="0" cy="301856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31582" y="3177540"/>
            <a:ext cx="120701" cy="140359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91933" y="3135432"/>
            <a:ext cx="0" cy="224575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51038" y="3177540"/>
            <a:ext cx="120701" cy="77652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11389" y="3154244"/>
            <a:ext cx="0" cy="124244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70494" y="3177540"/>
            <a:ext cx="120701" cy="30031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130845" y="3168531"/>
            <a:ext cx="0" cy="48050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89950" y="3177540"/>
            <a:ext cx="120701" cy="19893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350301" y="3171572"/>
            <a:ext cx="0" cy="31828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9406" y="3177540"/>
            <a:ext cx="120701" cy="52005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69757" y="3161939"/>
            <a:ext cx="0" cy="83208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728862" y="3177540"/>
            <a:ext cx="120701" cy="111265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789213" y="3144160"/>
            <a:ext cx="0" cy="178025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48318" y="3007737"/>
            <a:ext cx="120701" cy="169803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08669" y="2956796"/>
            <a:ext cx="0" cy="271685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167774" y="2977454"/>
            <a:ext cx="120701" cy="200086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228125" y="2917428"/>
            <a:ext cx="0" cy="320138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387230" y="2989667"/>
            <a:ext cx="120701" cy="187873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47581" y="2933306"/>
            <a:ext cx="0" cy="300596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06686" y="3038634"/>
            <a:ext cx="120701" cy="138906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667037" y="2996962"/>
            <a:ext cx="0" cy="222250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26142" y="3101323"/>
            <a:ext cx="120701" cy="76217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86493" y="3078458"/>
            <a:ext cx="0" cy="121947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45598" y="3148251"/>
            <a:ext cx="120701" cy="29289"/>
          </a:xfrm>
          <a:prstGeom prst="rect">
            <a:avLst/>
          </a:prstGeom>
          <a:solidFill>
            <a:srgbClr val="10D783">
              <a:alpha val="4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05949" y="3139465"/>
            <a:ext cx="0" cy="46862"/>
          </a:xfrm>
          <a:prstGeom prst="line">
            <a:avLst/>
          </a:prstGeom>
          <a:noFill/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265054" y="3177540"/>
            <a:ext cx="120701" cy="20192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325405" y="3171482"/>
            <a:ext cx="0" cy="32307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484510" y="3177540"/>
            <a:ext cx="120701" cy="53206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544861" y="3161578"/>
            <a:ext cx="0" cy="85129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703966" y="3177540"/>
            <a:ext cx="120701" cy="112802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764317" y="3143699"/>
            <a:ext cx="0" cy="180484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923422" y="3177540"/>
            <a:ext cx="120701" cy="170953"/>
          </a:xfrm>
          <a:prstGeom prst="rect">
            <a:avLst/>
          </a:prstGeom>
          <a:solidFill>
            <a:srgbClr val="F23A4E">
              <a:alpha val="4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983773" y="3126254"/>
            <a:ext cx="0" cy="273526"/>
          </a:xfrm>
          <a:prstGeom prst="line">
            <a:avLst/>
          </a:prstGeom>
          <a:noFill/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7208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TYPE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582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Behavioral · market structure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6720840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DIRECTION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4582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 &amp; short · directional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6720840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OOS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845820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0.84–2.22 (with friction)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6720840" y="4718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EROSION RISK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8458200" y="4718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Moderate — SMC mainstream growing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72084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TAIL RISK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845820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Bounded by structural SL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672084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EFF.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8458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1x — full notional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TALEB BARBELL  ·  </a:t>
            </a:r>
            <a:pPr algn="ctr" indent="0" marL="0">
              <a:buNone/>
            </a:pPr>
            <a:r>
              <a:rPr lang="en-US" sz="1100" i="1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Stable carry on one end, asymmetric pattern hunting on the other. Anti-fragile by construction.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· 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flows in, decisions flow out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3657600"/>
            <a:ext cx="2468880" cy="-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1156" y="29397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3657600"/>
            <a:ext cx="2468880" cy="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1156" y="43113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286000"/>
            <a:ext cx="2468880" cy="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0036" y="29397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5029200"/>
            <a:ext cx="2468880" cy="-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0036" y="43113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657600"/>
            <a:ext cx="2468880" cy="-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28916" y="29397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657600"/>
            <a:ext cx="2468880" cy="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8916" y="43113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2286000"/>
            <a:ext cx="2377440" cy="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2076" y="29397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0" y="5029200"/>
            <a:ext cx="2377440" cy="-1371600"/>
          </a:xfrm>
          <a:prstGeom prst="line">
            <a:avLst/>
          </a:prstGeom>
          <a:noFill/>
          <a:ln w="10160">
            <a:solidFill>
              <a:srgbClr val="E5B53E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52076" y="4311396"/>
            <a:ext cx="64008" cy="640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" y="3177540"/>
            <a:ext cx="960120" cy="960120"/>
          </a:xfrm>
          <a:prstGeom prst="ellipse">
            <a:avLst/>
          </a:prstGeom>
          <a:solidFill>
            <a:srgbClr val="B388FF">
              <a:alpha val="20000"/>
            </a:srgbClr>
          </a:solidFill>
          <a:ln w="6350">
            <a:solidFill>
              <a:srgbClr val="B388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" y="32689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B3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" y="41193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38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EXCHANGES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" y="44119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HL · Kraken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7540" y="1805940"/>
            <a:ext cx="960120" cy="9601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68980" y="18973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7477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30403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1h public feed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77540" y="4549140"/>
            <a:ext cx="960120" cy="9601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8980" y="46405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54909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OHLC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57835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 / H4 / H1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3017520"/>
            <a:ext cx="1280160" cy="1280160"/>
          </a:xfrm>
          <a:prstGeom prst="ellipse">
            <a:avLst/>
          </a:prstGeom>
          <a:solidFill>
            <a:srgbClr val="E5B53E">
              <a:alpha val="20000"/>
            </a:srgbClr>
          </a:solidFill>
          <a:ln w="6350">
            <a:solidFill>
              <a:srgbClr val="E5B53E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108960"/>
            <a:ext cx="1097280" cy="1097280"/>
          </a:xfrm>
          <a:prstGeom prst="ellipse">
            <a:avLst/>
          </a:prstGeom>
          <a:solidFill>
            <a:srgbClr val="0D131F"/>
          </a:solidFill>
          <a:ln w="25400">
            <a:solidFill>
              <a:srgbClr val="E5B5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BRAIN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engine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15300" y="1805940"/>
            <a:ext cx="960120" cy="960120"/>
          </a:xfrm>
          <a:prstGeom prst="ellipse">
            <a:avLst/>
          </a:prstGeom>
          <a:solidFill>
            <a:srgbClr val="10D783">
              <a:alpha val="20000"/>
            </a:srgbClr>
          </a:solidFill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06740" y="18973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10D7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27477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CAP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98080" y="30403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Δ-neutral trades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15300" y="4549140"/>
            <a:ext cx="960120" cy="960120"/>
          </a:xfrm>
          <a:prstGeom prst="ellipse">
            <a:avLst/>
          </a:prstGeom>
          <a:solidFill>
            <a:srgbClr val="10D783">
              <a:alpha val="20000"/>
            </a:srgbClr>
          </a:solidFill>
          <a:ln w="6350">
            <a:solidFill>
              <a:srgbClr val="10D783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06740" y="46405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10D7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54909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SWING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0" y="57835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Long/short setups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492740" y="3177540"/>
            <a:ext cx="960120" cy="960120"/>
          </a:xfrm>
          <a:prstGeom prst="ellipse">
            <a:avLst/>
          </a:prstGeom>
          <a:solidFill>
            <a:srgbClr val="F23A4E">
              <a:alpha val="20000"/>
            </a:srgbClr>
          </a:solidFill>
          <a:ln w="6350">
            <a:solidFill>
              <a:srgbClr val="F23A4E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84180" y="3268980"/>
            <a:ext cx="777240" cy="777240"/>
          </a:xfrm>
          <a:prstGeom prst="ellipse">
            <a:avLst/>
          </a:prstGeom>
          <a:solidFill>
            <a:srgbClr val="0D131F"/>
          </a:solidFill>
          <a:ln w="19050">
            <a:solidFill>
              <a:srgbClr val="F23A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75520" y="41193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23A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→ LIVE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875520" y="44119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Risk-controlled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engine consumes funding history + OHLC, applies V1 SL rules + funding signal logic, and emits orders — paper today, live tomorrow.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·  CURRENT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system stands on 21 May 2026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 walk-forward OOS · FRICTION fees + slippage + funding · WINDOW 2024-25 bull + 2022-23 bear · REGIME both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3708" y="1965960"/>
            <a:ext cx="2743200" cy="12801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3708" y="1965960"/>
            <a:ext cx="2743200" cy="45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588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8658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FILTERED UNIVERSE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84068" y="1965960"/>
            <a:ext cx="2743200" cy="12801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4068" y="1965960"/>
            <a:ext cx="2743200" cy="45720"/>
          </a:xfrm>
          <a:prstGeom prst="rect">
            <a:avLst/>
          </a:prstGeom>
          <a:solidFill>
            <a:srgbClr val="10D783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6948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6694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· BULL OOS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4428" y="1965960"/>
            <a:ext cx="2743200" cy="12801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4428" y="1965960"/>
            <a:ext cx="2743200" cy="45720"/>
          </a:xfrm>
          <a:prstGeom prst="rect">
            <a:avLst/>
          </a:prstGeom>
          <a:solidFill>
            <a:srgbClr val="10D783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7308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1.07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4730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· BEAR OOS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44788" y="1965960"/>
            <a:ext cx="2743200" cy="12801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4788" y="1965960"/>
            <a:ext cx="2743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7668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227668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BELIEF STAGE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3832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FILTERED 4-ASSET UNIVERSE (PF · ΣPnL bull-window OOS)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3708" y="3657600"/>
            <a:ext cx="2743200" cy="1463040"/>
          </a:xfrm>
          <a:prstGeom prst="rect">
            <a:avLst/>
          </a:prstGeom>
          <a:solidFill>
            <a:srgbClr val="0D131F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588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ETH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8658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658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26.6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86674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6674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+59pp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84068" y="3657600"/>
            <a:ext cx="2743200" cy="1463040"/>
          </a:xfrm>
          <a:prstGeom prst="rect">
            <a:avLst/>
          </a:prstGeom>
          <a:solidFill>
            <a:srgbClr val="0D131F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6948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LTC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46694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6694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7.09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4710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4710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+52pp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64428" y="3657600"/>
            <a:ext cx="2743200" cy="1463040"/>
          </a:xfrm>
          <a:prstGeom prst="rect">
            <a:avLst/>
          </a:prstGeom>
          <a:solidFill>
            <a:srgbClr val="0D131F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7308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AVAX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34730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4730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2746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2746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+17pp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044788" y="3657600"/>
            <a:ext cx="2743200" cy="1463040"/>
          </a:xfrm>
          <a:prstGeom prst="rect">
            <a:avLst/>
          </a:prstGeom>
          <a:solidFill>
            <a:srgbClr val="0D131F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27668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922766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22766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2.77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507828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507828" y="4498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+25pp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2296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trading running autonomously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728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Telegram alerting + watchdog active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071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9728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live capital deployed yet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22960" y="6364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7280" y="63642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broker demo: post-validation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· 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macro tailwinds align in 2026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0545775" cy="15087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00200"/>
            <a:ext cx="45720" cy="1508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Hyperliquid captures 44% of perp-DEX volume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 gain since January 2026 — only major perp venue gaining share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Best-in-class fees (0.015/0.045 bps), hourly funding, on-chain transparency. The infrastructure curve V2 rides.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17830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 pp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73152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yellow.com · DeFiLlama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3218688"/>
            <a:ext cx="10545775" cy="15087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18688"/>
            <a:ext cx="45720" cy="150876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630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 goes live 1 July 2026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40416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Clarity for proprietary trading. Barrier for unlicensed copy/SaaS — a moat for compliant operators.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3616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DAC8 transmission auto since January. Grey-zone era over. Early movers with clean operations have advantage.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4015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01.07.26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31520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ESMA · Sumsub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837176"/>
            <a:ext cx="10545775" cy="150876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837176"/>
            <a:ext cx="45720" cy="15087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38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2486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Retail SMC bots dominate visuals, not execution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5660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Almost no end-to-end Python ICC bot exists publicly. The vertical is empty.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59801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LuxAlgo, SMRT Algo, ICT — all indicators. Cryptohopper, 3Commas — all SaaS. V2 sits in the white space.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502005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$0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7315200" y="6025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TradingView · industry scan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 · 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24-month trajectory from solo bot to community +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9448495" cy="0"/>
          </a:xfrm>
          <a:prstGeom prst="line">
            <a:avLst/>
          </a:prstGeom>
          <a:noFill/>
          <a:ln w="19050">
            <a:solidFill>
              <a:srgbClr val="E5B5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246120"/>
            <a:ext cx="822960" cy="822960"/>
          </a:xfrm>
          <a:prstGeom prst="ellipse">
            <a:avLst/>
          </a:prstGeom>
          <a:solidFill>
            <a:srgbClr val="050810"/>
          </a:solidFill>
          <a:ln w="25400">
            <a:solidFill>
              <a:srgbClr val="E5B5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 → +3 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468880"/>
            <a:ext cx="0" cy="777240"/>
          </a:xfrm>
          <a:prstGeom prst="line">
            <a:avLst/>
          </a:prstGeom>
          <a:noFill/>
          <a:ln w="9525">
            <a:solidFill>
              <a:srgbClr val="E5B53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244" y="3246120"/>
            <a:ext cx="822960" cy="822960"/>
          </a:xfrm>
          <a:prstGeom prst="ellipse">
            <a:avLst/>
          </a:prstGeom>
          <a:solidFill>
            <a:srgbClr val="05081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2244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62124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+ LIVE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62124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 → +9 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3724" y="4069080"/>
            <a:ext cx="0" cy="137160"/>
          </a:xfrm>
          <a:prstGeom prst="line">
            <a:avLst/>
          </a:prstGeom>
          <a:noFill/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4368" y="3246120"/>
            <a:ext cx="822960" cy="822960"/>
          </a:xfrm>
          <a:prstGeom prst="ellipse">
            <a:avLst/>
          </a:prstGeom>
          <a:solidFill>
            <a:srgbClr val="050810"/>
          </a:solidFill>
          <a:ln w="25400">
            <a:solidFill>
              <a:srgbClr val="10D7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4368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4248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+ COMMUNITY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24248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+9 → +18 mo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5848" y="2468880"/>
            <a:ext cx="0" cy="777240"/>
          </a:xfrm>
          <a:prstGeom prst="line">
            <a:avLst/>
          </a:prstGeom>
          <a:noFill/>
          <a:ln w="9525">
            <a:solidFill>
              <a:srgbClr val="10D783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491" y="3246120"/>
            <a:ext cx="822960" cy="822960"/>
          </a:xfrm>
          <a:prstGeom prst="ellipse">
            <a:avLst/>
          </a:prstGeom>
          <a:solidFill>
            <a:srgbClr val="050810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491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8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86371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MULTI-STRAT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371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38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+18 → +24 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57971" y="4069080"/>
            <a:ext cx="0" cy="137160"/>
          </a:xfrm>
          <a:prstGeom prst="line">
            <a:avLst/>
          </a:prstGeom>
          <a:noFill/>
          <a:ln w="9525">
            <a:solidFill>
              <a:srgbClr val="B388FF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8615" y="3246120"/>
            <a:ext cx="822960" cy="822960"/>
          </a:xfrm>
          <a:prstGeom prst="ellipse">
            <a:avLst/>
          </a:prstGeom>
          <a:solidFill>
            <a:srgbClr val="050810"/>
          </a:solidFill>
          <a:ln w="25400">
            <a:solidFill>
              <a:srgbClr val="F23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08615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3A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 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48495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DPM EVAL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448495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3A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+24 mo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820095" y="2468880"/>
            <a:ext cx="0" cy="777240"/>
          </a:xfrm>
          <a:prstGeom prst="line">
            <a:avLst/>
          </a:prstGeom>
          <a:noFill/>
          <a:ln w="9525">
            <a:solidFill>
              <a:srgbClr val="F23A4E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486400"/>
            <a:ext cx="10545775" cy="868680"/>
          </a:xfrm>
          <a:prstGeom prst="rect">
            <a:avLst/>
          </a:prstGeom>
          <a:solidFill>
            <a:srgbClr val="131B2A"/>
          </a:solidFill>
          <a:ln w="6350">
            <a:solidFill>
              <a:srgbClr val="E5B5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6692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4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TRAJECTORY  ·  </a:t>
            </a:r>
            <a:pPr indent="0" marL="0">
              <a:buNone/>
            </a:pPr>
            <a:r>
              <a:rPr lang="en-US" sz="1200" i="1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phase gates the next. We don't deploy capital before OOS validates. We don't build SaaS before community validates. We don't seek licence before product validates.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 ·  AMBITIONS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possible levels — each with its tradeoffs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00200"/>
            <a:ext cx="457200" cy="594360"/>
          </a:xfrm>
          <a:prstGeom prst="rect">
            <a:avLst/>
          </a:prstGeom>
          <a:solidFill>
            <a:srgbClr val="10D783">
              <a:alpha val="30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1709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PROPRIETARY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Own capital, no third party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of edge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381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11535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2258568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258568"/>
            <a:ext cx="457200" cy="594360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3042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1732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+ PATREON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+ soft monetization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$1-5k/mo at 100-500 subs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3816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258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11535" y="23957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2916936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2916936"/>
            <a:ext cx="457200" cy="594360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9626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1732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 CHANNEL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Discord/Telegram paid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099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$20-100 / sub / 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9169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3099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Border-line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2916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911535" y="30540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3575304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3575304"/>
            <a:ext cx="457200" cy="594360"/>
          </a:xfrm>
          <a:prstGeom prst="rect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6210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41732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TURNKEY SaaS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417320" y="3922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connects exchange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758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$30-100 / customer / mo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3575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3758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38160" y="3575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911535" y="37124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" y="4233672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" y="4233672"/>
            <a:ext cx="457200" cy="594360"/>
          </a:xfrm>
          <a:prstGeom prst="rect">
            <a:avLst/>
          </a:prstGeom>
          <a:solidFill>
            <a:srgbClr val="B388FF">
              <a:alpha val="3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279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41732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COPY-TRADING POOL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417320" y="4581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Via Finestel / Stoic partnership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10-30% perf fee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54880" y="4233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38160" y="4416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138160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911535" y="4370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38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2960" y="4892040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" y="4892040"/>
            <a:ext cx="457200" cy="594360"/>
          </a:xfrm>
          <a:prstGeom prst="rect">
            <a:avLst/>
          </a:prstGeom>
          <a:solidFill>
            <a:srgbClr val="E5B53E">
              <a:alpha val="30000"/>
            </a:srgbClr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" y="4937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141732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DPM RETAIL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417320" y="5239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Discretionary portfolio mgmt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5488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2%/20% standard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754880" y="4892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1381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CASP full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13816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911535" y="5029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2960" y="5550408"/>
            <a:ext cx="10545775" cy="594360"/>
          </a:xfrm>
          <a:prstGeom prst="rect">
            <a:avLst/>
          </a:prstGeom>
          <a:solidFill>
            <a:srgbClr val="0D131F"/>
          </a:solidFill>
          <a:ln w="3810">
            <a:solidFill>
              <a:srgbClr val="1F2A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2960" y="5550408"/>
            <a:ext cx="457200" cy="594360"/>
          </a:xfrm>
          <a:prstGeom prst="rect">
            <a:avLst/>
          </a:prstGeom>
          <a:solidFill>
            <a:srgbClr val="F23A4E">
              <a:alpha val="30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55961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1417320" y="5660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HEDGE FUND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41732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Institutional capital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754880" y="5733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D78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2/20 + $10M+ AUM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754880" y="5550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38160" y="5733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Offshore + onshore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138160" y="5550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911535" y="56875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3A4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22960" y="63093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12-month target: </a:t>
            </a:r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Levels 2-3 </a:t>
            </a:r>
            <a:pPr algn="ctr" indent="0" marL="0">
              <a:buNone/>
            </a:pPr>
            <a:r>
              <a:rPr lang="en-US" sz="12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24-month: </a:t>
            </a:r>
            <a:pPr algn="ctr" indent="0" marL="0">
              <a:buNone/>
            </a:pPr>
            <a:r>
              <a:rPr lang="en-US" sz="1200" b="1" dirty="0">
                <a:solidFill>
                  <a:srgbClr val="B38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4-5 </a:t>
            </a:r>
            <a:pPr algn="ctr" indent="0" marL="0">
              <a:buNone/>
            </a:pPr>
            <a:r>
              <a:rPr lang="en-US" sz="1200" i="1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Levels 6-7 are full career bets — not committed.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 ·  WHAT MAKES V2 DIFFERENT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competitors stop, V2 begins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14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457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  <a:gridCol w="1828800"/>
                <a:gridCol w="195069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INDICATORS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(LuxAlgo, SMRT, ICT)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 BOTS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(3Commas, Cryptohopper)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QUANT FUNDS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(institutional)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03030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TRADING BOT V2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5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Backtest reproducible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Marketed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 — public methodology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Walk-forward OOS+friction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Rarely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 — 2 regimes documented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No-lookahead audited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Internal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 — public audit doc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Belief % tracked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Internal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 — radical transparency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Funding capture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Limited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Yes — Hyperliquid native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 source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Mixed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3A4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Partial planned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F7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Accessible price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$15-30/mo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$30-100/mo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CCD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Inaccessible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B53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TBD — community first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1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5852160"/>
            <a:ext cx="10545775" cy="640080"/>
          </a:xfrm>
          <a:prstGeom prst="rect">
            <a:avLst/>
          </a:prstGeom>
          <a:solidFill>
            <a:srgbClr val="131B2A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6016752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4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POSITIONING  ·  </a:t>
            </a:r>
            <a:pPr indent="0" marL="0">
              <a:buNone/>
            </a:pPr>
            <a:r>
              <a:rPr lang="en-US" sz="1200" i="1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Indicators give you the chart. SaaS bots give you a service. Quant funds keep you out. V2 gives you the methodology — open, measured, defensible.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36576" cy="576072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 ·  THE HONEST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Risk-adjusted, OOS, friction-applied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6350">
            <a:solidFill>
              <a:srgbClr val="1F2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105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5943600" cy="41148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OOS + FRICTION · STYLIZED EQUITY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6192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83664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5074920"/>
            <a:ext cx="173736" cy="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31136" y="5074920"/>
            <a:ext cx="173736" cy="-6548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5009437"/>
            <a:ext cx="173736" cy="-328751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4680686"/>
            <a:ext cx="173736" cy="-227537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2344" y="4453149"/>
            <a:ext cx="173736" cy="2712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4480271"/>
            <a:ext cx="173736" cy="15057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816" y="4630841"/>
            <a:ext cx="173736" cy="49294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4680135"/>
            <a:ext cx="173736" cy="-8315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4596982"/>
            <a:ext cx="173736" cy="-70958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024" y="4526024"/>
            <a:ext cx="173736" cy="-5047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4520977"/>
            <a:ext cx="173736" cy="-7551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68496" y="4445464"/>
            <a:ext cx="173736" cy="-24914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42232" y="4196322"/>
            <a:ext cx="173736" cy="-28514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15968" y="3911182"/>
            <a:ext cx="173736" cy="-81512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9704" y="3829670"/>
            <a:ext cx="173736" cy="152347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982017"/>
            <a:ext cx="173736" cy="160595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37176" y="4142612"/>
            <a:ext cx="173736" cy="-25051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4117561"/>
            <a:ext cx="173736" cy="-152383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4648" y="3965178"/>
            <a:ext cx="173736" cy="-108891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8384" y="3856288"/>
            <a:ext cx="173736" cy="-51772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3804516"/>
            <a:ext cx="173736" cy="-133671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05856" y="3670845"/>
            <a:ext cx="173736" cy="-246619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79592" y="3424226"/>
            <a:ext cx="173736" cy="-17456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3328" y="3249666"/>
            <a:ext cx="173736" cy="66338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27064" y="3316003"/>
            <a:ext cx="173736" cy="209320"/>
          </a:xfrm>
          <a:prstGeom prst="line">
            <a:avLst/>
          </a:prstGeom>
          <a:noFill/>
          <a:ln w="25400">
            <a:solidFill>
              <a:srgbClr val="10D7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5074920"/>
            <a:ext cx="5212080" cy="0"/>
          </a:xfrm>
          <a:prstGeom prst="line">
            <a:avLst/>
          </a:prstGeom>
          <a:noFill/>
          <a:ln w="6350">
            <a:solidFill>
              <a:srgbClr val="586475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0058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 +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05840" y="4937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8872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5120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Illustrative — actual equity curves in results/walkforward_v1_oos_friction_*.json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040880" y="1600200"/>
            <a:ext cx="4572000" cy="9144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40880" y="1600200"/>
            <a:ext cx="45720" cy="914400"/>
          </a:xfrm>
          <a:prstGeom prst="rect">
            <a:avLst/>
          </a:prstGeom>
          <a:solidFill>
            <a:srgbClr val="10D783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37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RATE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23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64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60.5%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8869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3268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49.5%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223760" y="2313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in-sample → OOS+friction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40880" y="2651760"/>
            <a:ext cx="4572000" cy="9144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40880" y="2651760"/>
            <a:ext cx="45720" cy="914400"/>
          </a:xfrm>
          <a:prstGeom prst="rect">
            <a:avLst/>
          </a:prstGeom>
          <a:solidFill>
            <a:srgbClr val="10D783"/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PROFIT FACTOR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2376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64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3.84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88696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3268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D78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2.09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223760" y="33649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weighted across 2 regimes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40880" y="3703320"/>
            <a:ext cx="4572000" cy="9144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3703320"/>
            <a:ext cx="45720" cy="91440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Σ PnL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237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64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+501 pp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8869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32688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+216 pp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223760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IS vs OOS combined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040880" y="4754880"/>
            <a:ext cx="4572000" cy="914400"/>
          </a:xfrm>
          <a:prstGeom prst="rect">
            <a:avLst/>
          </a:prstGeom>
          <a:solidFill>
            <a:srgbClr val="0D131F"/>
          </a:solidFill>
          <a:ln w="6350">
            <a:solidFill>
              <a:srgbClr val="1F2A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40880" y="4754880"/>
            <a:ext cx="45720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DRAWDOWN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2376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64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~7%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88696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932688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10.4%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7223760" y="5468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864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 OOS+friction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CC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grey number on the left is what most retail bots advertise. The colored number on the right is what V2 acknowledges as real.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3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" y="5138928"/>
            <a:ext cx="279393" cy="438912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5895" y="5007254"/>
            <a:ext cx="0" cy="702259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4185" y="4903299"/>
            <a:ext cx="279393" cy="674541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882" y="4700937"/>
            <a:ext cx="0" cy="1079266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173" y="4778490"/>
            <a:ext cx="279393" cy="79935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1869" y="4538685"/>
            <a:ext cx="0" cy="1278960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160" y="4823201"/>
            <a:ext cx="279393" cy="754639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9857" y="4596809"/>
            <a:ext cx="0" cy="1207423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8147" y="5577840"/>
            <a:ext cx="279393" cy="561437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7844" y="5409409"/>
            <a:ext cx="0" cy="898300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6135" y="5577840"/>
            <a:ext cx="279393" cy="310610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55831" y="5484657"/>
            <a:ext cx="0" cy="496975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4122" y="5577840"/>
            <a:ext cx="279393" cy="120124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3818" y="5541803"/>
            <a:ext cx="0" cy="192199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2109" y="5577840"/>
            <a:ext cx="279393" cy="79570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1806" y="5553969"/>
            <a:ext cx="0" cy="127312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0096" y="5577840"/>
            <a:ext cx="279393" cy="208020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793" y="5515434"/>
            <a:ext cx="0" cy="332832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8084" y="5577840"/>
            <a:ext cx="279393" cy="445062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7780" y="5444321"/>
            <a:ext cx="0" cy="712099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6071" y="4898629"/>
            <a:ext cx="279393" cy="679211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5768" y="4694865"/>
            <a:ext cx="0" cy="1086738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4058" y="4777496"/>
            <a:ext cx="279393" cy="800344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3755" y="4537392"/>
            <a:ext cx="0" cy="1280551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046" y="4826350"/>
            <a:ext cx="279393" cy="751490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1742" y="4600903"/>
            <a:ext cx="0" cy="1202384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0033" y="5022215"/>
            <a:ext cx="279393" cy="555625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9730" y="4855527"/>
            <a:ext cx="0" cy="889001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8020" y="5272971"/>
            <a:ext cx="279393" cy="304869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7717" y="5181511"/>
            <a:ext cx="0" cy="487790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008" y="5460686"/>
            <a:ext cx="279393" cy="117154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5704" y="5425539"/>
            <a:ext cx="0" cy="187447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03995" y="5577840"/>
            <a:ext cx="279393" cy="80768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43691" y="5553610"/>
            <a:ext cx="0" cy="129229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11982" y="5577840"/>
            <a:ext cx="279393" cy="212822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51679" y="5513993"/>
            <a:ext cx="0" cy="340515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19969" y="5577840"/>
            <a:ext cx="279393" cy="451210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59666" y="5442477"/>
            <a:ext cx="0" cy="721936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7957" y="5577840"/>
            <a:ext cx="279393" cy="683814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67653" y="5372696"/>
            <a:ext cx="0" cy="1094102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35944" y="5577840"/>
            <a:ext cx="279393" cy="801237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75641" y="5337469"/>
            <a:ext cx="0" cy="1281978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43931" y="5577840"/>
            <a:ext cx="279393" cy="748252"/>
          </a:xfrm>
          <a:prstGeom prst="rect">
            <a:avLst/>
          </a:prstGeom>
          <a:solidFill>
            <a:srgbClr val="F23A4E">
              <a:alpha val="8000"/>
            </a:srgbClr>
          </a:solidFill>
          <a:ln w="12700">
            <a:solidFill>
              <a:srgbClr val="F23A4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83628" y="5353364"/>
            <a:ext cx="0" cy="1197204"/>
          </a:xfrm>
          <a:prstGeom prst="line">
            <a:avLst/>
          </a:prstGeom>
          <a:noFill/>
          <a:ln w="6350">
            <a:solidFill>
              <a:srgbClr val="F23A4E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251919" y="5028059"/>
            <a:ext cx="279393" cy="549781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91615" y="4863125"/>
            <a:ext cx="0" cy="879649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759906" y="5278674"/>
            <a:ext cx="279393" cy="299166"/>
          </a:xfrm>
          <a:prstGeom prst="rect">
            <a:avLst/>
          </a:prstGeom>
          <a:solidFill>
            <a:srgbClr val="10D783">
              <a:alpha val="8000"/>
            </a:srgbClr>
          </a:solidFill>
          <a:ln w="12700">
            <a:solidFill>
              <a:srgbClr val="10D7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99603" y="5188925"/>
            <a:ext cx="0" cy="478665"/>
          </a:xfrm>
          <a:prstGeom prst="line">
            <a:avLst/>
          </a:prstGeom>
          <a:noFill/>
          <a:ln w="6350">
            <a:solidFill>
              <a:srgbClr val="10D783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1874520"/>
            <a:ext cx="121917" cy="11841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1917" y="1992932"/>
            <a:ext cx="121917" cy="11036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3834" y="2103292"/>
            <a:ext cx="121917" cy="9551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51" y="2198802"/>
            <a:ext cx="121917" cy="7482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7668" y="2273629"/>
            <a:ext cx="121917" cy="4962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9585" y="2323256"/>
            <a:ext cx="121917" cy="2150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02" y="2344758"/>
            <a:ext cx="121917" cy="-778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3419" y="2336972"/>
            <a:ext cx="121917" cy="-3641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5336" y="2300561"/>
            <a:ext cx="121917" cy="-6260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53" y="2237957"/>
            <a:ext cx="121917" cy="-8475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19170" y="2153203"/>
            <a:ext cx="121917" cy="-10151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41086" y="2051694"/>
            <a:ext cx="121917" cy="-11186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63003" y="1939827"/>
            <a:ext cx="121917" cy="-11522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84920" y="1824606"/>
            <a:ext cx="121917" cy="-11141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06837" y="1713196"/>
            <a:ext cx="121917" cy="-10071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28754" y="1612484"/>
            <a:ext cx="121917" cy="-8383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50671" y="1528648"/>
            <a:ext cx="121917" cy="-6186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72588" y="1466783"/>
            <a:ext cx="121917" cy="-3619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94505" y="1430588"/>
            <a:ext cx="121917" cy="-844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16422" y="1422144"/>
            <a:ext cx="121917" cy="1965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38339" y="1441799"/>
            <a:ext cx="121917" cy="4635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256" y="1488157"/>
            <a:ext cx="121917" cy="7001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82173" y="1558173"/>
            <a:ext cx="121917" cy="89179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04090" y="1647352"/>
            <a:ext cx="121917" cy="10269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07" y="1750042"/>
            <a:ext cx="121917" cy="10974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47924" y="1859787"/>
            <a:ext cx="121917" cy="109949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69841" y="1969735"/>
            <a:ext cx="121917" cy="10333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91758" y="2073068"/>
            <a:ext cx="121917" cy="9035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13675" y="2163420"/>
            <a:ext cx="121917" cy="7185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35592" y="2235272"/>
            <a:ext cx="121917" cy="4901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57509" y="2284290"/>
            <a:ext cx="121917" cy="2329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79426" y="2307583"/>
            <a:ext cx="121917" cy="-370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01342" y="2303876"/>
            <a:ext cx="121917" cy="-3029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259" y="2273578"/>
            <a:ext cx="121917" cy="-5483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45176" y="2218743"/>
            <a:ext cx="121917" cy="-7580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67093" y="2142935"/>
            <a:ext cx="121917" cy="-9194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89010" y="2050995"/>
            <a:ext cx="121917" cy="-10226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10927" y="1948731"/>
            <a:ext cx="121917" cy="-10617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32844" y="1842556"/>
            <a:ext cx="121917" cy="-10347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54761" y="1739078"/>
            <a:ext cx="121917" cy="-9438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76678" y="1644697"/>
            <a:ext cx="121917" cy="-7949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98595" y="1565203"/>
            <a:ext cx="121917" cy="-59779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20512" y="1505424"/>
            <a:ext cx="121917" cy="-3649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42429" y="1468933"/>
            <a:ext cx="121917" cy="-1110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64346" y="1457832"/>
            <a:ext cx="121917" cy="1480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263" y="1472636"/>
            <a:ext cx="121917" cy="3961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08180" y="1512248"/>
            <a:ext cx="121917" cy="6179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30097" y="1574039"/>
            <a:ext cx="121917" cy="7998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52014" y="1654025"/>
            <a:ext cx="121917" cy="9309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973931" y="1747119"/>
            <a:ext cx="121917" cy="10033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95848" y="1847457"/>
            <a:ext cx="121917" cy="10131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17765" y="1948767"/>
            <a:ext cx="121917" cy="9599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39682" y="2044759"/>
            <a:ext cx="121917" cy="8476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61598" y="2129521"/>
            <a:ext cx="121917" cy="6835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83515" y="2197875"/>
            <a:ext cx="121917" cy="4782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05432" y="2245700"/>
            <a:ext cx="121917" cy="2447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27349" y="2270178"/>
            <a:ext cx="121917" cy="-219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949266" y="2269959"/>
            <a:ext cx="121917" cy="-2472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071183" y="2245234"/>
            <a:ext cx="121917" cy="-4752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93100" y="2197712"/>
            <a:ext cx="121917" cy="-6720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15017" y="2130505"/>
            <a:ext cx="121917" cy="-8258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36934" y="2047924"/>
            <a:ext cx="121917" cy="-9272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58851" y="1955201"/>
            <a:ext cx="121917" cy="-9704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80768" y="1858159"/>
            <a:ext cx="121917" cy="-9531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02685" y="1762846"/>
            <a:ext cx="121917" cy="-8768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24602" y="1675158"/>
            <a:ext cx="121917" cy="-7468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046519" y="1600477"/>
            <a:ext cx="121917" cy="-5714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68436" y="1543335"/>
            <a:ext cx="121917" cy="-3619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90353" y="1507143"/>
            <a:ext cx="121917" cy="-1315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412270" y="1493990"/>
            <a:ext cx="121917" cy="1052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34187" y="1504516"/>
            <a:ext cx="121917" cy="3337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56104" y="1537892"/>
            <a:ext cx="121917" cy="5398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778021" y="1591873"/>
            <a:ext cx="121917" cy="7108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899937" y="1662958"/>
            <a:ext cx="121917" cy="8365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021854" y="1746608"/>
            <a:ext cx="121917" cy="9093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143771" y="1837542"/>
            <a:ext cx="121917" cy="9252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265688" y="1930065"/>
            <a:ext cx="121917" cy="8836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387605" y="2018431"/>
            <a:ext cx="121917" cy="7876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509522" y="2097193"/>
            <a:ext cx="121917" cy="6435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631439" y="2161543"/>
            <a:ext cx="121917" cy="4606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753356" y="2207604"/>
            <a:ext cx="121917" cy="2506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75273" y="2232665"/>
            <a:ext cx="121917" cy="267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997190" y="2235338"/>
            <a:ext cx="121917" cy="-1970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19107" y="2215633"/>
            <a:ext cx="121917" cy="-4068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241024" y="2174950"/>
            <a:ext cx="121917" cy="-5897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362941" y="2115979"/>
            <a:ext cx="121917" cy="-73459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484858" y="2042520"/>
            <a:ext cx="121917" cy="-83276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606775" y="1959244"/>
            <a:ext cx="121917" cy="-8785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728692" y="1871393"/>
            <a:ext cx="121917" cy="-8694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50609" y="1784448"/>
            <a:ext cx="121917" cy="-8065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972526" y="1703793"/>
            <a:ext cx="121917" cy="-69418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1094443" y="1634375"/>
            <a:ext cx="121917" cy="-5397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216360" y="1580405"/>
            <a:ext cx="121917" cy="-35304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338277" y="1545101"/>
            <a:ext cx="121917" cy="-14603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60193" y="1530498"/>
            <a:ext cx="121917" cy="6831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582110" y="1537329"/>
            <a:ext cx="121917" cy="2766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704027" y="1564991"/>
            <a:ext cx="121917" cy="46605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825944" y="1611596"/>
            <a:ext cx="121917" cy="62500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1947861" y="1674096"/>
            <a:ext cx="121917" cy="74387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2069778" y="1748482"/>
            <a:ext cx="121917" cy="81562"/>
          </a:xfrm>
          <a:prstGeom prst="line">
            <a:avLst/>
          </a:prstGeom>
          <a:noFill/>
          <a:ln w="8890">
            <a:solidFill>
              <a:srgbClr val="E5B53E">
                <a:alpha val="2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0" y="1965960"/>
            <a:ext cx="152396" cy="10254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52396" y="2068507"/>
            <a:ext cx="152396" cy="9542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04792" y="2163930"/>
            <a:ext cx="152396" cy="8243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57189" y="2246367"/>
            <a:ext cx="152396" cy="6443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9585" y="2310804"/>
            <a:ext cx="152396" cy="4258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61981" y="2353384"/>
            <a:ext cx="152396" cy="1824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14377" y="2371632"/>
            <a:ext cx="152396" cy="-702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66773" y="2364603"/>
            <a:ext cx="152396" cy="-3167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219170" y="2332926"/>
            <a:ext cx="152396" cy="-5417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371566" y="2278753"/>
            <a:ext cx="152396" cy="-7313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523962" y="2205618"/>
            <a:ext cx="152396" cy="-8741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676358" y="2118201"/>
            <a:ext cx="152396" cy="-9617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828754" y="2022031"/>
            <a:ext cx="152396" cy="-9889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981150" y="1923140"/>
            <a:ext cx="152396" cy="-9546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133547" y="1827678"/>
            <a:ext cx="152396" cy="-8614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285943" y="1741537"/>
            <a:ext cx="152396" cy="-71554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38339" y="1669983"/>
            <a:ext cx="152396" cy="-5264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590735" y="1617336"/>
            <a:ext cx="152396" cy="-3062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743131" y="1586709"/>
            <a:ext cx="152396" cy="-6884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895528" y="1579825"/>
            <a:ext cx="152396" cy="1709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47924" y="1596920"/>
            <a:ext cx="152396" cy="3982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00320" y="1636741"/>
            <a:ext cx="152396" cy="5989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352716" y="1696636"/>
            <a:ext cx="152396" cy="7609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505112" y="1772729"/>
            <a:ext cx="152396" cy="8744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57509" y="1860171"/>
            <a:ext cx="152396" cy="9327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809905" y="1953450"/>
            <a:ext cx="152396" cy="9328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962301" y="2046735"/>
            <a:ext cx="152396" cy="8750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114697" y="2134244"/>
            <a:ext cx="152396" cy="7635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267093" y="2210600"/>
            <a:ext cx="152396" cy="60564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419490" y="2271164"/>
            <a:ext cx="152396" cy="4114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571886" y="2312313"/>
            <a:ext cx="152396" cy="1934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724282" y="2331660"/>
            <a:ext cx="152396" cy="-347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876678" y="2328190"/>
            <a:ext cx="152396" cy="-2588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029074" y="2302310"/>
            <a:ext cx="152396" cy="-4649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181470" y="2255815"/>
            <a:ext cx="152396" cy="-6405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333867" y="2191763"/>
            <a:ext cx="152396" cy="-7748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486263" y="2114275"/>
            <a:ext cx="152396" cy="-8600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638659" y="2028269"/>
            <a:ext cx="152396" cy="-8912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791055" y="1939149"/>
            <a:ext cx="152396" cy="-8668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943451" y="1852465"/>
            <a:ext cx="152396" cy="-7889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95848" y="1773570"/>
            <a:ext cx="152396" cy="-6628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48244" y="1707284"/>
            <a:ext cx="152396" cy="-4967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400640" y="1657606"/>
            <a:ext cx="152396" cy="-3014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53036" y="1627466"/>
            <a:ext cx="152396" cy="-890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705432" y="1618560"/>
            <a:ext cx="152396" cy="1269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857829" y="1631250"/>
            <a:ext cx="152396" cy="3330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010225" y="1664557"/>
            <a:ext cx="152396" cy="5167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162621" y="1716230"/>
            <a:ext cx="152396" cy="6667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15017" y="1782901"/>
            <a:ext cx="152396" cy="7740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67413" y="1860303"/>
            <a:ext cx="152396" cy="8323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619809" y="1943540"/>
            <a:ext cx="152396" cy="8386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772206" y="2027401"/>
            <a:ext cx="152396" cy="7928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924602" y="2106683"/>
            <a:ext cx="152396" cy="6983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076998" y="2176515"/>
            <a:ext cx="152396" cy="5614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229394" y="2232657"/>
            <a:ext cx="152396" cy="3910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81790" y="2271758"/>
            <a:ext cx="152396" cy="1979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534187" y="2291554"/>
            <a:ext cx="152396" cy="-55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686583" y="2291001"/>
            <a:ext cx="152396" cy="-2067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838979" y="2270325"/>
            <a:ext cx="152396" cy="-3932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991375" y="2230999"/>
            <a:ext cx="152396" cy="-55360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143771" y="2175639"/>
            <a:ext cx="152396" cy="-6781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296168" y="2107828"/>
            <a:ext cx="152396" cy="-75939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48564" y="2031889"/>
            <a:ext cx="152396" cy="-79283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600960" y="1952606"/>
            <a:ext cx="152396" cy="-7768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753356" y="1874925"/>
            <a:ext cx="152396" cy="-7128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905752" y="1803643"/>
            <a:ext cx="152396" cy="-6052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058149" y="1743115"/>
            <a:ext cx="152396" cy="-4613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210545" y="1696984"/>
            <a:ext cx="152396" cy="-2901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362941" y="1667966"/>
            <a:ext cx="152396" cy="-1027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515337" y="1657689"/>
            <a:ext cx="152396" cy="891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67733" y="1666601"/>
            <a:ext cx="152396" cy="27355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820129" y="1693955"/>
            <a:ext cx="152396" cy="43916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972526" y="1737872"/>
            <a:ext cx="152396" cy="5758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124922" y="1795460"/>
            <a:ext cx="152396" cy="67552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277318" y="1863011"/>
            <a:ext cx="152396" cy="7322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429714" y="1936238"/>
            <a:ext cx="152396" cy="7430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582110" y="2010545"/>
            <a:ext cx="152396" cy="7077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734507" y="2081317"/>
            <a:ext cx="152396" cy="62888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886903" y="2144205"/>
            <a:ext cx="152396" cy="51191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2039299" y="2195396"/>
            <a:ext cx="152396" cy="36447"/>
          </a:xfrm>
          <a:prstGeom prst="line">
            <a:avLst/>
          </a:prstGeom>
          <a:noFill/>
          <a:ln w="635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40080" y="914400"/>
            <a:ext cx="36576" cy="4572000"/>
          </a:xfrm>
          <a:prstGeom prst="rect">
            <a:avLst/>
          </a:prstGeom>
          <a:solidFill>
            <a:srgbClr val="E5B53E"/>
          </a:solidFill>
          <a:ln w="12700">
            <a:solidFill>
              <a:srgbClr val="E5B53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505895" y="914400"/>
            <a:ext cx="18288" cy="4572000"/>
          </a:xfrm>
          <a:prstGeom prst="rect">
            <a:avLst/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91440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E5B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233" name="Text 231"/>
          <p:cNvSpPr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V2 works, you'll know why.</a:t>
            </a:r>
            <a:endParaRPr lang="en-US" sz="4400" dirty="0"/>
          </a:p>
        </p:txBody>
      </p:sp>
      <p:sp>
        <p:nvSpPr>
          <p:cNvPr id="234" name="Text 232"/>
          <p:cNvSpPr/>
          <p:nvPr/>
        </p:nvSpPr>
        <p:spPr>
          <a:xfrm>
            <a:off x="91440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V2 fails, you'll know why.</a:t>
            </a:r>
            <a:endParaRPr lang="en-US" sz="4400" dirty="0"/>
          </a:p>
        </p:txBody>
      </p:sp>
      <p:sp>
        <p:nvSpPr>
          <p:cNvPr id="235" name="Text 233"/>
          <p:cNvSpPr/>
          <p:nvPr/>
        </p:nvSpPr>
        <p:spPr>
          <a:xfrm>
            <a:off x="914400" y="3840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4CC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Either way, we measure, we report, we adapt.</a:t>
            </a:r>
            <a:endParaRPr lang="en-US" sz="2200" dirty="0"/>
          </a:p>
        </p:txBody>
      </p:sp>
      <p:sp>
        <p:nvSpPr>
          <p:cNvPr id="236" name="Shape 234"/>
          <p:cNvSpPr/>
          <p:nvPr/>
        </p:nvSpPr>
        <p:spPr>
          <a:xfrm>
            <a:off x="426568" y="5029200"/>
            <a:ext cx="3657600" cy="1005840"/>
          </a:xfrm>
          <a:prstGeom prst="rect">
            <a:avLst/>
          </a:prstGeom>
          <a:solidFill>
            <a:srgbClr val="0D131F"/>
          </a:solidFill>
          <a:ln w="6350">
            <a:solidFill>
              <a:srgbClr val="E5B53E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09448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 May</a:t>
            </a:r>
            <a:endParaRPr lang="en-US" sz="1800" dirty="0"/>
          </a:p>
        </p:txBody>
      </p:sp>
      <p:sp>
        <p:nvSpPr>
          <p:cNvPr id="238" name="Text 236"/>
          <p:cNvSpPr/>
          <p:nvPr/>
        </p:nvSpPr>
        <p:spPr>
          <a:xfrm>
            <a:off x="609448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Daemon launched · paper trading begins</a:t>
            </a:r>
            <a:endParaRPr lang="en-US" sz="1100" dirty="0"/>
          </a:p>
        </p:txBody>
      </p:sp>
      <p:sp>
        <p:nvSpPr>
          <p:cNvPr id="239" name="Shape 237"/>
          <p:cNvSpPr/>
          <p:nvPr/>
        </p:nvSpPr>
        <p:spPr>
          <a:xfrm>
            <a:off x="4267048" y="5029200"/>
            <a:ext cx="3657600" cy="1005840"/>
          </a:xfrm>
          <a:prstGeom prst="rect">
            <a:avLst/>
          </a:prstGeom>
          <a:solidFill>
            <a:srgbClr val="0D131F"/>
          </a:solidFill>
          <a:ln w="6350">
            <a:solidFill>
              <a:srgbClr val="E5B53E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449928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May</a:t>
            </a:r>
            <a:endParaRPr lang="en-US" sz="1800" dirty="0"/>
          </a:p>
        </p:txBody>
      </p:sp>
      <p:sp>
        <p:nvSpPr>
          <p:cNvPr id="241" name="Text 239"/>
          <p:cNvSpPr/>
          <p:nvPr/>
        </p:nvSpPr>
        <p:spPr>
          <a:xfrm>
            <a:off x="4449928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Intermediate report · J+8 review</a:t>
            </a:r>
            <a:endParaRPr lang="en-US" sz="1100" dirty="0"/>
          </a:p>
        </p:txBody>
      </p:sp>
      <p:sp>
        <p:nvSpPr>
          <p:cNvPr id="242" name="Shape 240"/>
          <p:cNvSpPr/>
          <p:nvPr/>
        </p:nvSpPr>
        <p:spPr>
          <a:xfrm>
            <a:off x="8107528" y="5029200"/>
            <a:ext cx="3657600" cy="1005840"/>
          </a:xfrm>
          <a:prstGeom prst="rect">
            <a:avLst/>
          </a:prstGeom>
          <a:solidFill>
            <a:srgbClr val="0D131F"/>
          </a:solidFill>
          <a:ln w="6350">
            <a:solidFill>
              <a:srgbClr val="E5B53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290408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B5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June</a:t>
            </a:r>
            <a:endParaRPr lang="en-US" sz="1800" dirty="0"/>
          </a:p>
        </p:txBody>
      </p:sp>
      <p:sp>
        <p:nvSpPr>
          <p:cNvPr id="244" name="Text 242"/>
          <p:cNvSpPr/>
          <p:nvPr/>
        </p:nvSpPr>
        <p:spPr>
          <a:xfrm>
            <a:off x="8290408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· full debrief · Phase 2 decision</a:t>
            </a:r>
            <a:endParaRPr lang="en-US" sz="1100" dirty="0"/>
          </a:p>
        </p:txBody>
      </p:sp>
      <p:sp>
        <p:nvSpPr>
          <p:cNvPr id="245" name="Text 243"/>
          <p:cNvSpPr/>
          <p:nvPr/>
        </p:nvSpPr>
        <p:spPr>
          <a:xfrm>
            <a:off x="914400" y="6492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69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Pitch &amp; Philosophy  ·  May 2026  ·  Prepared for Badoun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Bot V2 — Pitch &amp; Philosophy</dc:title>
  <dc:subject>PptxGenJS Presentation</dc:subject>
  <dc:creator>Trading Bot V2</dc:creator>
  <cp:lastModifiedBy>Trading Bot V2</cp:lastModifiedBy>
  <cp:revision>1</cp:revision>
  <dcterms:created xsi:type="dcterms:W3CDTF">2026-05-21T12:24:23Z</dcterms:created>
  <dcterms:modified xsi:type="dcterms:W3CDTF">2026-05-21T12:24:23Z</dcterms:modified>
</cp:coreProperties>
</file>